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828800"/>
            <a:ext cx="4572000" cy="4572000"/>
          </a:xfrm>
          <a:prstGeom prst="ellipse">
            <a:avLst/>
          </a:prstGeom>
          <a:solidFill>
            <a:srgbClr val="CADCFC">
              <a:alpha val="12000"/>
            </a:srgbClr>
          </a:solidFill>
          <a:ln/>
        </p:spPr>
      </p:sp>
      <p:sp>
        <p:nvSpPr>
          <p:cNvPr id="3" name="Shape 1"/>
          <p:cNvSpPr/>
          <p:nvPr/>
        </p:nvSpPr>
        <p:spPr>
          <a:xfrm>
            <a:off x="-1828800" y="3840480"/>
            <a:ext cx="4114800" cy="4114800"/>
          </a:xfrm>
          <a:prstGeom prst="ellipse">
            <a:avLst/>
          </a:prstGeom>
          <a:solidFill>
            <a:srgbClr val="F9A826">
              <a:alpha val="15000"/>
            </a:srgbClr>
          </a:solidFill>
          <a:ln/>
        </p:spPr>
      </p:sp>
      <p:sp>
        <p:nvSpPr>
          <p:cNvPr id="4" name="Text 2"/>
          <p:cNvSpPr/>
          <p:nvPr/>
        </p:nvSpPr>
        <p:spPr>
          <a:xfrm>
            <a:off x="731520" y="1554480"/>
            <a:ext cx="7315200" cy="457200"/>
          </a:xfrm>
          <a:prstGeom prst="rect">
            <a:avLst/>
          </a:prstGeom>
          <a:noFill/>
          <a:ln/>
        </p:spPr>
        <p:txBody>
          <a:bodyPr wrap="square" rtlCol="0" anchor="ctr"/>
          <a:lstStyle/>
          <a:p>
            <a:pPr indent="0" marL="0">
              <a:buNone/>
            </a:pPr>
            <a:r>
              <a:rPr lang="en-US" sz="1600" b="1" spc="400" kern="0" dirty="0">
                <a:solidFill>
                  <a:srgbClr val="F9A826"/>
                </a:solidFill>
                <a:latin typeface="Calibri" pitchFamily="34" charset="0"/>
                <a:ea typeface="Calibri" pitchFamily="34" charset="-122"/>
                <a:cs typeface="Calibri" pitchFamily="34" charset="-120"/>
              </a:rPr>
              <a:t>PHYSICS QUIZ</a:t>
            </a:r>
            <a:endParaRPr lang="en-US" sz="1600" dirty="0"/>
          </a:p>
        </p:txBody>
      </p:sp>
      <p:sp>
        <p:nvSpPr>
          <p:cNvPr id="5" name="Text 3"/>
          <p:cNvSpPr/>
          <p:nvPr/>
        </p:nvSpPr>
        <p:spPr>
          <a:xfrm>
            <a:off x="731520" y="2011680"/>
            <a:ext cx="9144000" cy="2194560"/>
          </a:xfrm>
          <a:prstGeom prst="rect">
            <a:avLst/>
          </a:prstGeom>
          <a:noFill/>
          <a:ln/>
        </p:spPr>
        <p:txBody>
          <a:bodyPr wrap="square"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Electrostatics &amp;</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Current Electricity</a:t>
            </a:r>
            <a:endParaRPr lang="en-US" sz="4400" dirty="0"/>
          </a:p>
        </p:txBody>
      </p:sp>
      <p:sp>
        <p:nvSpPr>
          <p:cNvPr id="6" name="Text 4"/>
          <p:cNvSpPr/>
          <p:nvPr/>
        </p:nvSpPr>
        <p:spPr>
          <a:xfrm>
            <a:off x="731520" y="4389120"/>
            <a:ext cx="91440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25 Multiple Choice Questions  |  Answer Key &amp; Explanations Included</a:t>
            </a:r>
            <a:endParaRPr lang="en-US" sz="1600" dirty="0"/>
          </a:p>
        </p:txBody>
      </p:sp>
      <p:sp>
        <p:nvSpPr>
          <p:cNvPr id="7" name="Shape 5"/>
          <p:cNvSpPr/>
          <p:nvPr/>
        </p:nvSpPr>
        <p:spPr>
          <a:xfrm>
            <a:off x="731520" y="5029200"/>
            <a:ext cx="1280160" cy="54864"/>
          </a:xfrm>
          <a:prstGeom prst="rect">
            <a:avLst/>
          </a:prstGeom>
          <a:solidFill>
            <a:srgbClr val="F9A82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Consider four heavily charged plastic rods. Rods 1 and 2 attract each other whereas rods 3 and 4 repel each other. Which one of the following statements is correct?</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repels rod 3, rod 2 also repels rod 4.</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repels rod 4, rod 2 also attracts rod 3.</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attracts rod 3, rod 2 also attracts rod 4.</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attracts rod 4, rod 2 also attracts rod 3.</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electric potential created by a point charge at a distance r from the charge is V. What is the electric potential at a distance of 4r from the charge?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4V</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V/2</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V/6</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V/4</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3</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2uF and 1uF capacitor are connected in parallel and a potential difference is applied across this combination. The 2uF capacitor has: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Half the charge of the 1uF capacitor.</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Twice the potential difference of the 1uF capacitor.</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Half the stored energy of the 1uF capacitor.</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Twice the stored energy of the 1uF capacitor.</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4</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positively charged glass rod and a negatively charged rubber rod are placed far from each other. What happens to the dry pieces of paper brought nearby the rods before touching them?</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Repelled by glass and attracted by rubber.</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Attracted by glass and repelled by rubber.</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Attracted by both glass and rubber.</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Repelled by both glass and rubber.</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5</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point charge Q1 is at x=0 and Q2 is at x=8cm. What is the relationship between these charges if the resultant electric field strength is zero at x=16cm?</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Q1 = 2Q2</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Q1 = 0.25Q2</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0.25Q1</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Q1 = -4Q2</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6</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tangent line to an equipotential surface and electric field of a charged body at any point on the surface must be: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Perpendicular</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Parallel</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Opposite in direction</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Same direction</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7</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9V battery is connected to a 2uF capacitor. How much electric energy can be stored in the capacitor?</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8.1 x 10^-6 J</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8.1 x 10^-5 J</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1.62 x 10^-4 J</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1.62 x 10^-5 J</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8</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If a 9V battery is connected to the plates of a 3uF capacitor, what will be the charge stored in the capacitor?</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27 uC</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uC</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1/3 uC</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54 uC</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9</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9</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Which one of the following is true?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negative charge point outward.</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positive charge point inward.</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negative charge point inward.</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positive charge make circles.</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10</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Two capacitors of capacitance 2uF and 6uF are connected in series with a potential difference of 12V. What is the total charge stored in the circuit?</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18 uC</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36 uC</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 uC</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24 uC</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11</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11</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Suppose a given resistor is connected to a constant voltage supply. When will the current in the resistor decrease?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length of the resistor is reduced.</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cross-sectional area of the resistor is increased.</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length of the resistor is increased.</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resistance of the resistor is increased.</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12</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In an experiment, 4 resistors of 3 Ohm, 4 Ohm, 12 Ohm and 16 Ohm are required at different times. But the laboratory technician told you to use only two resistors. Which two resistors do you choose?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Ohm and 12 Ohm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Ohm and 16 Ohm</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Ohm and 16 Ohm</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Ohm and 4 Ohm</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13</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13</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You wish to triple the rate of electrical energy dissipation in a heating device. To do this you could triple: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potential difference keeping the resistance the same.</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resistance keeping the potential difference the same.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current keeping the resistance the same.</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resistance keeping the current the same.</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14</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14</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simple circuit consists of a resistor of 10 Ohm connected to a battery of emf 18V. If the current through the circuit is 1.6A, what is the internal resistance of the battery?</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10.0 Ohm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8.75 Ohm</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1.25 Ohm</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11.2 Ohm</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15</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15</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terminal potential difference of a battery is maximum when:</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e.m.f of the battery is minimum.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battery is being discharged through a wire.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There is a steady current flowing through the battery.</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There is no current flowing through the battery.</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16</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16</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potential difference between the terminals of the battery when the battery is isolated electrically is called:</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Electromotive force</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Terminal voltage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Electric force</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Electric field</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17</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17</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If three equal resistors connected in series are equivalent to 90 Ohm, what would be their equivalent resistance if they are connected in parallel?</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270 Ohm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Ohm</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810 Ohm</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10 Ohm</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18</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18</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Consider a simple series circuit with a cell of emf 4.5V and a resistor of 40 Ohm. The current in the circuit is 0.1A. What will be the current in the circuit if an exactly identical additional cell of emf 4.5V is connected to the previous cell in series?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0.05 A</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0.20 A</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0.18 A</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0.21 A</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19</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19</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Two particles with charges q1 and q2 are on the x-axis, with q1 at x=a and q2 at x=-2a. For the net force on a third charged particle at x=0 to be zero, q1 and q2 must be related by:</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2q1</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-4q1</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-2q1</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4q1</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20</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20</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How much potential difference is needed to move 720 C of charge in 2 minutes in a conductor that has 3 Ohm resistance?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360 V</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240 V</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6 V</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18 V</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21</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21</a:t>
            </a:r>
            <a:endParaRPr lang="en-US" sz="1400" dirty="0"/>
          </a:p>
        </p:txBody>
      </p:sp>
      <p:sp>
        <p:nvSpPr>
          <p:cNvPr id="5" name="Text 3"/>
          <p:cNvSpPr/>
          <p:nvPr/>
        </p:nvSpPr>
        <p:spPr>
          <a:xfrm>
            <a:off x="548640" y="1143000"/>
            <a:ext cx="630936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From the given figure, which positions would be appropriate for the placement of a voltmeter?</a:t>
            </a:r>
            <a:endParaRPr lang="en-US" sz="1700" dirty="0"/>
          </a:p>
        </p:txBody>
      </p:sp>
      <p:sp>
        <p:nvSpPr>
          <p:cNvPr id="6" name="Shape 4"/>
          <p:cNvSpPr/>
          <p:nvPr/>
        </p:nvSpPr>
        <p:spPr>
          <a:xfrm>
            <a:off x="54864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and 4</a:t>
            </a:r>
            <a:endParaRPr lang="en-US" sz="1300" dirty="0"/>
          </a:p>
        </p:txBody>
      </p:sp>
      <p:sp>
        <p:nvSpPr>
          <p:cNvPr id="10" name="Shape 8"/>
          <p:cNvSpPr/>
          <p:nvPr/>
        </p:nvSpPr>
        <p:spPr>
          <a:xfrm>
            <a:off x="384048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400507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400507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455371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 and 2</a:t>
            </a:r>
            <a:endParaRPr lang="en-US" sz="1300" dirty="0"/>
          </a:p>
        </p:txBody>
      </p:sp>
      <p:sp>
        <p:nvSpPr>
          <p:cNvPr id="14" name="Shape 12"/>
          <p:cNvSpPr/>
          <p:nvPr/>
        </p:nvSpPr>
        <p:spPr>
          <a:xfrm>
            <a:off x="54864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 and 3</a:t>
            </a:r>
            <a:endParaRPr lang="en-US" sz="1300" dirty="0"/>
          </a:p>
        </p:txBody>
      </p:sp>
      <p:sp>
        <p:nvSpPr>
          <p:cNvPr id="18" name="Shape 16"/>
          <p:cNvSpPr/>
          <p:nvPr/>
        </p:nvSpPr>
        <p:spPr>
          <a:xfrm>
            <a:off x="384048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400507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400507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455371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and 2</a:t>
            </a:r>
            <a:endParaRPr lang="en-US" sz="1300" dirty="0"/>
          </a:p>
        </p:txBody>
      </p:sp>
      <p:sp>
        <p:nvSpPr>
          <p:cNvPr id="22" name="Shape 20"/>
          <p:cNvSpPr/>
          <p:nvPr/>
        </p:nvSpPr>
        <p:spPr>
          <a:xfrm>
            <a:off x="6995160" y="1143000"/>
            <a:ext cx="4572000" cy="4206240"/>
          </a:xfrm>
          <a:prstGeom prst="roundRect">
            <a:avLst>
              <a:gd name="adj" fmla="val 1739"/>
            </a:avLst>
          </a:prstGeom>
          <a:solidFill>
            <a:srgbClr val="F4F7FE"/>
          </a:solidFill>
          <a:ln/>
          <a:effectLst>
            <a:outerShdw sx="100000" sy="100000" kx="0" ky="0" algn="bl" rotWithShape="0" blurRad="63500" dist="25400" dir="2700000">
              <a:srgbClr val="000000">
                <a:alpha val="10000"/>
              </a:srgbClr>
            </a:outerShdw>
          </a:effectLst>
        </p:spPr>
      </p:sp>
      <p:pic>
        <p:nvPicPr>
          <p:cNvPr id="23" name="Image 0" descr="images/23.jpg"/>
          <p:cNvPicPr>
            <a:picLocks noChangeAspect="1"/>
          </p:cNvPicPr>
          <p:nvPr/>
        </p:nvPicPr>
        <p:blipFill>
          <a:blip r:embed="rId1"/>
          <a:stretch>
            <a:fillRect/>
          </a:stretch>
        </p:blipFill>
        <p:spPr>
          <a:xfrm>
            <a:off x="7178040" y="2933647"/>
            <a:ext cx="4206240" cy="1004601"/>
          </a:xfrm>
          <a:prstGeom prst="rect">
            <a:avLst/>
          </a:prstGeom>
        </p:spPr>
      </p:pic>
      <p:sp>
        <p:nvSpPr>
          <p:cNvPr id="24" name="Text 21"/>
          <p:cNvSpPr/>
          <p:nvPr/>
        </p:nvSpPr>
        <p:spPr>
          <a:xfrm>
            <a:off x="6995160" y="4572000"/>
            <a:ext cx="4572000" cy="32004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Circuit Diagram</a:t>
            </a:r>
            <a:endParaRPr lang="en-US" sz="1100" dirty="0"/>
          </a:p>
        </p:txBody>
      </p:sp>
      <p:sp>
        <p:nvSpPr>
          <p:cNvPr id="25" name="Text 22"/>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22</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22</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potential difference between two large parallel metal plates is 120 V. The plate separation is 4.0 mm. What is the electric field between the plates?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kV/m toward the negative plate</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kV/m toward the positive plate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V/m toward the negative plate</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48 V/m toward negative plate</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23</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23</a:t>
            </a:r>
            <a:endParaRPr lang="en-US" sz="1400" dirty="0"/>
          </a:p>
        </p:txBody>
      </p:sp>
      <p:sp>
        <p:nvSpPr>
          <p:cNvPr id="5" name="Text 3"/>
          <p:cNvSpPr/>
          <p:nvPr/>
        </p:nvSpPr>
        <p:spPr>
          <a:xfrm>
            <a:off x="548640" y="1143000"/>
            <a:ext cx="630936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Four resistors are connected to the voltage source as shown in the circuit diagram. What are the current passing through the 6 Ohm resistor and the voltage drop across the 4 Ohm resistor respectively?</a:t>
            </a:r>
            <a:endParaRPr lang="en-US" sz="1700" dirty="0"/>
          </a:p>
        </p:txBody>
      </p:sp>
      <p:sp>
        <p:nvSpPr>
          <p:cNvPr id="6" name="Shape 4"/>
          <p:cNvSpPr/>
          <p:nvPr/>
        </p:nvSpPr>
        <p:spPr>
          <a:xfrm>
            <a:off x="54864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2/3 A and 8 V</a:t>
            </a:r>
            <a:endParaRPr lang="en-US" sz="1300" dirty="0"/>
          </a:p>
        </p:txBody>
      </p:sp>
      <p:sp>
        <p:nvSpPr>
          <p:cNvPr id="10" name="Shape 8"/>
          <p:cNvSpPr/>
          <p:nvPr/>
        </p:nvSpPr>
        <p:spPr>
          <a:xfrm>
            <a:off x="384048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400507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400507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455371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3/2 A and 4 V</a:t>
            </a:r>
            <a:endParaRPr lang="en-US" sz="1300" dirty="0"/>
          </a:p>
        </p:txBody>
      </p:sp>
      <p:sp>
        <p:nvSpPr>
          <p:cNvPr id="14" name="Shape 12"/>
          <p:cNvSpPr/>
          <p:nvPr/>
        </p:nvSpPr>
        <p:spPr>
          <a:xfrm>
            <a:off x="54864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4/3 A and 4 V</a:t>
            </a:r>
            <a:endParaRPr lang="en-US" sz="1300" dirty="0"/>
          </a:p>
        </p:txBody>
      </p:sp>
      <p:sp>
        <p:nvSpPr>
          <p:cNvPr id="18" name="Shape 16"/>
          <p:cNvSpPr/>
          <p:nvPr/>
        </p:nvSpPr>
        <p:spPr>
          <a:xfrm>
            <a:off x="384048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400507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400507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455371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3/4 A and 8 V</a:t>
            </a:r>
            <a:endParaRPr lang="en-US" sz="1300" dirty="0"/>
          </a:p>
        </p:txBody>
      </p:sp>
      <p:sp>
        <p:nvSpPr>
          <p:cNvPr id="22" name="Shape 20"/>
          <p:cNvSpPr/>
          <p:nvPr/>
        </p:nvSpPr>
        <p:spPr>
          <a:xfrm>
            <a:off x="6995160" y="1143000"/>
            <a:ext cx="4572000" cy="4206240"/>
          </a:xfrm>
          <a:prstGeom prst="roundRect">
            <a:avLst>
              <a:gd name="adj" fmla="val 1739"/>
            </a:avLst>
          </a:prstGeom>
          <a:solidFill>
            <a:srgbClr val="F4F7FE"/>
          </a:solidFill>
          <a:ln/>
          <a:effectLst>
            <a:outerShdw sx="100000" sy="100000" kx="0" ky="0" algn="bl" rotWithShape="0" blurRad="63500" dist="25400" dir="2700000">
              <a:srgbClr val="000000">
                <a:alpha val="10000"/>
              </a:srgbClr>
            </a:outerShdw>
          </a:effectLst>
        </p:spPr>
      </p:sp>
      <p:pic>
        <p:nvPicPr>
          <p:cNvPr id="23" name="Image 0" descr="images/21.jpg"/>
          <p:cNvPicPr>
            <a:picLocks noChangeAspect="1"/>
          </p:cNvPicPr>
          <p:nvPr/>
        </p:nvPicPr>
        <p:blipFill>
          <a:blip r:embed="rId1"/>
          <a:stretch>
            <a:fillRect/>
          </a:stretch>
        </p:blipFill>
        <p:spPr>
          <a:xfrm>
            <a:off x="7178040" y="2299895"/>
            <a:ext cx="4206240" cy="1892451"/>
          </a:xfrm>
          <a:prstGeom prst="rect">
            <a:avLst/>
          </a:prstGeom>
        </p:spPr>
      </p:pic>
      <p:sp>
        <p:nvSpPr>
          <p:cNvPr id="24" name="Text 21"/>
          <p:cNvSpPr/>
          <p:nvPr/>
        </p:nvSpPr>
        <p:spPr>
          <a:xfrm>
            <a:off x="6995160" y="4572000"/>
            <a:ext cx="4572000" cy="32004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Circuit Diagram</a:t>
            </a:r>
            <a:endParaRPr lang="en-US" sz="1100" dirty="0"/>
          </a:p>
        </p:txBody>
      </p:sp>
      <p:sp>
        <p:nvSpPr>
          <p:cNvPr id="25" name="Text 22"/>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24</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24</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tungsten wire has resistance R at 20 degrees Celsius. A second tungsten wire at 20 degrees Celsius has twice the length and half the cross-sectional area of the first wire. In terms of R, the resistance of the second wire is: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R/2</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2R</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4R</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25</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25</a:t>
            </a:r>
            <a:endParaRPr lang="en-US" sz="1400" dirty="0"/>
          </a:p>
        </p:txBody>
      </p:sp>
      <p:sp>
        <p:nvSpPr>
          <p:cNvPr id="5" name="Text 3"/>
          <p:cNvSpPr/>
          <p:nvPr/>
        </p:nvSpPr>
        <p:spPr>
          <a:xfrm>
            <a:off x="548640" y="1143000"/>
            <a:ext cx="630936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12V battery of negligible internal resistance is connected to three resistors and an ammeter. If the variable resistor is set to a maximum value of 40 Ohm, what is the resistance of the ammeter when its reading is 0.3A?</a:t>
            </a:r>
            <a:endParaRPr lang="en-US" sz="1700" dirty="0"/>
          </a:p>
        </p:txBody>
      </p:sp>
      <p:sp>
        <p:nvSpPr>
          <p:cNvPr id="6" name="Shape 4"/>
          <p:cNvSpPr/>
          <p:nvPr/>
        </p:nvSpPr>
        <p:spPr>
          <a:xfrm>
            <a:off x="54864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 Ohm</a:t>
            </a:r>
            <a:endParaRPr lang="en-US" sz="1300" dirty="0"/>
          </a:p>
        </p:txBody>
      </p:sp>
      <p:sp>
        <p:nvSpPr>
          <p:cNvPr id="10" name="Shape 8"/>
          <p:cNvSpPr/>
          <p:nvPr/>
        </p:nvSpPr>
        <p:spPr>
          <a:xfrm>
            <a:off x="384048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400507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400507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455371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 Ohm</a:t>
            </a:r>
            <a:endParaRPr lang="en-US" sz="1300" dirty="0"/>
          </a:p>
        </p:txBody>
      </p:sp>
      <p:sp>
        <p:nvSpPr>
          <p:cNvPr id="14" name="Shape 12"/>
          <p:cNvSpPr/>
          <p:nvPr/>
        </p:nvSpPr>
        <p:spPr>
          <a:xfrm>
            <a:off x="54864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Ohm</a:t>
            </a:r>
            <a:endParaRPr lang="en-US" sz="1300" dirty="0"/>
          </a:p>
        </p:txBody>
      </p:sp>
      <p:sp>
        <p:nvSpPr>
          <p:cNvPr id="18" name="Shape 16"/>
          <p:cNvSpPr/>
          <p:nvPr/>
        </p:nvSpPr>
        <p:spPr>
          <a:xfrm>
            <a:off x="384048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400507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400507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455371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Ohm</a:t>
            </a:r>
            <a:endParaRPr lang="en-US" sz="1300" dirty="0"/>
          </a:p>
        </p:txBody>
      </p:sp>
      <p:sp>
        <p:nvSpPr>
          <p:cNvPr id="22" name="Shape 20"/>
          <p:cNvSpPr/>
          <p:nvPr/>
        </p:nvSpPr>
        <p:spPr>
          <a:xfrm>
            <a:off x="6995160" y="1143000"/>
            <a:ext cx="4572000" cy="4206240"/>
          </a:xfrm>
          <a:prstGeom prst="roundRect">
            <a:avLst>
              <a:gd name="adj" fmla="val 1739"/>
            </a:avLst>
          </a:prstGeom>
          <a:solidFill>
            <a:srgbClr val="F4F7FE"/>
          </a:solidFill>
          <a:ln/>
          <a:effectLst>
            <a:outerShdw sx="100000" sy="100000" kx="0" ky="0" algn="bl" rotWithShape="0" blurRad="63500" dist="25400" dir="2700000">
              <a:srgbClr val="000000">
                <a:alpha val="10000"/>
              </a:srgbClr>
            </a:outerShdw>
          </a:effectLst>
        </p:spPr>
      </p:sp>
      <p:pic>
        <p:nvPicPr>
          <p:cNvPr id="23" name="Image 0" descr="images/25.jpg"/>
          <p:cNvPicPr>
            <a:picLocks noChangeAspect="1"/>
          </p:cNvPicPr>
          <p:nvPr/>
        </p:nvPicPr>
        <p:blipFill>
          <a:blip r:embed="rId1"/>
          <a:stretch>
            <a:fillRect/>
          </a:stretch>
        </p:blipFill>
        <p:spPr>
          <a:xfrm>
            <a:off x="7178040" y="2545080"/>
            <a:ext cx="4206240" cy="1402080"/>
          </a:xfrm>
          <a:prstGeom prst="rect">
            <a:avLst/>
          </a:prstGeom>
        </p:spPr>
      </p:pic>
      <p:sp>
        <p:nvSpPr>
          <p:cNvPr id="24" name="Text 21"/>
          <p:cNvSpPr/>
          <p:nvPr/>
        </p:nvSpPr>
        <p:spPr>
          <a:xfrm>
            <a:off x="6995160" y="4572000"/>
            <a:ext cx="4572000" cy="32004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Circuit Diagram</a:t>
            </a:r>
            <a:endParaRPr lang="en-US" sz="1100" dirty="0"/>
          </a:p>
        </p:txBody>
      </p:sp>
      <p:sp>
        <p:nvSpPr>
          <p:cNvPr id="25" name="Text 22"/>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058400" y="4114800"/>
            <a:ext cx="3657600" cy="3657600"/>
          </a:xfrm>
          <a:prstGeom prst="ellipse">
            <a:avLst/>
          </a:prstGeom>
          <a:solidFill>
            <a:srgbClr val="F9A826">
              <a:alpha val="12000"/>
            </a:srgbClr>
          </a:solidFill>
          <a:ln/>
        </p:spPr>
      </p:sp>
      <p:sp>
        <p:nvSpPr>
          <p:cNvPr id="3" name="Text 1"/>
          <p:cNvSpPr/>
          <p:nvPr/>
        </p:nvSpPr>
        <p:spPr>
          <a:xfrm>
            <a:off x="731520" y="45720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 KEY (1/2)</a:t>
            </a:r>
            <a:endParaRPr lang="en-US" sz="3000" dirty="0"/>
          </a:p>
        </p:txBody>
      </p:sp>
      <p:sp>
        <p:nvSpPr>
          <p:cNvPr id="4" name="Shape 2"/>
          <p:cNvSpPr/>
          <p:nvPr/>
        </p:nvSpPr>
        <p:spPr>
          <a:xfrm>
            <a:off x="731520" y="1463040"/>
            <a:ext cx="4892040" cy="347472"/>
          </a:xfrm>
          <a:prstGeom prst="roundRect">
            <a:avLst>
              <a:gd name="adj" fmla="val 15789"/>
            </a:avLst>
          </a:prstGeom>
          <a:solidFill>
            <a:srgbClr val="FFFFFF">
              <a:alpha val="8000"/>
            </a:srgbClr>
          </a:solidFill>
          <a:ln/>
        </p:spPr>
      </p:sp>
      <p:sp>
        <p:nvSpPr>
          <p:cNvPr id="5" name="Text 3"/>
          <p:cNvSpPr/>
          <p:nvPr/>
        </p:nvSpPr>
        <p:spPr>
          <a:xfrm>
            <a:off x="82296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a:t>
            </a:r>
            <a:endParaRPr lang="en-US" sz="1400" dirty="0"/>
          </a:p>
        </p:txBody>
      </p:sp>
      <p:sp>
        <p:nvSpPr>
          <p:cNvPr id="6" name="Text 4"/>
          <p:cNvSpPr/>
          <p:nvPr/>
        </p:nvSpPr>
        <p:spPr>
          <a:xfrm>
            <a:off x="164592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7" name="Shape 5"/>
          <p:cNvSpPr/>
          <p:nvPr/>
        </p:nvSpPr>
        <p:spPr>
          <a:xfrm>
            <a:off x="731520" y="1874520"/>
            <a:ext cx="4892040" cy="347472"/>
          </a:xfrm>
          <a:prstGeom prst="roundRect">
            <a:avLst>
              <a:gd name="adj" fmla="val 15789"/>
            </a:avLst>
          </a:prstGeom>
          <a:solidFill>
            <a:srgbClr val="FFFFFF">
              <a:alpha val="8000"/>
            </a:srgbClr>
          </a:solidFill>
          <a:ln/>
        </p:spPr>
      </p:sp>
      <p:sp>
        <p:nvSpPr>
          <p:cNvPr id="8" name="Text 6"/>
          <p:cNvSpPr/>
          <p:nvPr/>
        </p:nvSpPr>
        <p:spPr>
          <a:xfrm>
            <a:off x="82296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a:t>
            </a:r>
            <a:endParaRPr lang="en-US" sz="1400" dirty="0"/>
          </a:p>
        </p:txBody>
      </p:sp>
      <p:sp>
        <p:nvSpPr>
          <p:cNvPr id="9" name="Text 7"/>
          <p:cNvSpPr/>
          <p:nvPr/>
        </p:nvSpPr>
        <p:spPr>
          <a:xfrm>
            <a:off x="164592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0" name="Shape 8"/>
          <p:cNvSpPr/>
          <p:nvPr/>
        </p:nvSpPr>
        <p:spPr>
          <a:xfrm>
            <a:off x="731520" y="2286000"/>
            <a:ext cx="4892040" cy="347472"/>
          </a:xfrm>
          <a:prstGeom prst="roundRect">
            <a:avLst>
              <a:gd name="adj" fmla="val 15789"/>
            </a:avLst>
          </a:prstGeom>
          <a:solidFill>
            <a:srgbClr val="FFFFFF">
              <a:alpha val="8000"/>
            </a:srgbClr>
          </a:solidFill>
          <a:ln/>
        </p:spPr>
      </p:sp>
      <p:sp>
        <p:nvSpPr>
          <p:cNvPr id="11" name="Text 9"/>
          <p:cNvSpPr/>
          <p:nvPr/>
        </p:nvSpPr>
        <p:spPr>
          <a:xfrm>
            <a:off x="82296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Q3</a:t>
            </a:r>
            <a:endParaRPr lang="en-US" sz="1400" dirty="0"/>
          </a:p>
        </p:txBody>
      </p:sp>
      <p:sp>
        <p:nvSpPr>
          <p:cNvPr id="12" name="Text 10"/>
          <p:cNvSpPr/>
          <p:nvPr/>
        </p:nvSpPr>
        <p:spPr>
          <a:xfrm>
            <a:off x="164592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3" name="Shape 11"/>
          <p:cNvSpPr/>
          <p:nvPr/>
        </p:nvSpPr>
        <p:spPr>
          <a:xfrm>
            <a:off x="731520" y="2697480"/>
            <a:ext cx="4892040" cy="347472"/>
          </a:xfrm>
          <a:prstGeom prst="roundRect">
            <a:avLst>
              <a:gd name="adj" fmla="val 15789"/>
            </a:avLst>
          </a:prstGeom>
          <a:solidFill>
            <a:srgbClr val="FFFFFF">
              <a:alpha val="8000"/>
            </a:srgbClr>
          </a:solidFill>
          <a:ln/>
        </p:spPr>
      </p:sp>
      <p:sp>
        <p:nvSpPr>
          <p:cNvPr id="14" name="Text 12"/>
          <p:cNvSpPr/>
          <p:nvPr/>
        </p:nvSpPr>
        <p:spPr>
          <a:xfrm>
            <a:off x="82296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Q4</a:t>
            </a:r>
            <a:endParaRPr lang="en-US" sz="1400" dirty="0"/>
          </a:p>
        </p:txBody>
      </p:sp>
      <p:sp>
        <p:nvSpPr>
          <p:cNvPr id="15" name="Text 13"/>
          <p:cNvSpPr/>
          <p:nvPr/>
        </p:nvSpPr>
        <p:spPr>
          <a:xfrm>
            <a:off x="164592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6" name="Shape 14"/>
          <p:cNvSpPr/>
          <p:nvPr/>
        </p:nvSpPr>
        <p:spPr>
          <a:xfrm>
            <a:off x="731520" y="3108960"/>
            <a:ext cx="4892040" cy="347472"/>
          </a:xfrm>
          <a:prstGeom prst="roundRect">
            <a:avLst>
              <a:gd name="adj" fmla="val 15789"/>
            </a:avLst>
          </a:prstGeom>
          <a:solidFill>
            <a:srgbClr val="FFFFFF">
              <a:alpha val="8000"/>
            </a:srgbClr>
          </a:solidFill>
          <a:ln/>
        </p:spPr>
      </p:sp>
      <p:sp>
        <p:nvSpPr>
          <p:cNvPr id="17" name="Text 15"/>
          <p:cNvSpPr/>
          <p:nvPr/>
        </p:nvSpPr>
        <p:spPr>
          <a:xfrm>
            <a:off x="82296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Q5</a:t>
            </a:r>
            <a:endParaRPr lang="en-US" sz="1400" dirty="0"/>
          </a:p>
        </p:txBody>
      </p:sp>
      <p:sp>
        <p:nvSpPr>
          <p:cNvPr id="18" name="Text 16"/>
          <p:cNvSpPr/>
          <p:nvPr/>
        </p:nvSpPr>
        <p:spPr>
          <a:xfrm>
            <a:off x="164592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9" name="Shape 17"/>
          <p:cNvSpPr/>
          <p:nvPr/>
        </p:nvSpPr>
        <p:spPr>
          <a:xfrm>
            <a:off x="731520" y="3520440"/>
            <a:ext cx="4892040" cy="347472"/>
          </a:xfrm>
          <a:prstGeom prst="roundRect">
            <a:avLst>
              <a:gd name="adj" fmla="val 15789"/>
            </a:avLst>
          </a:prstGeom>
          <a:solidFill>
            <a:srgbClr val="FFFFFF">
              <a:alpha val="8000"/>
            </a:srgbClr>
          </a:solidFill>
          <a:ln/>
        </p:spPr>
      </p:sp>
      <p:sp>
        <p:nvSpPr>
          <p:cNvPr id="20" name="Text 18"/>
          <p:cNvSpPr/>
          <p:nvPr/>
        </p:nvSpPr>
        <p:spPr>
          <a:xfrm>
            <a:off x="82296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Q6</a:t>
            </a:r>
            <a:endParaRPr lang="en-US" sz="1400" dirty="0"/>
          </a:p>
        </p:txBody>
      </p:sp>
      <p:sp>
        <p:nvSpPr>
          <p:cNvPr id="21" name="Text 19"/>
          <p:cNvSpPr/>
          <p:nvPr/>
        </p:nvSpPr>
        <p:spPr>
          <a:xfrm>
            <a:off x="164592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2" name="Shape 20"/>
          <p:cNvSpPr/>
          <p:nvPr/>
        </p:nvSpPr>
        <p:spPr>
          <a:xfrm>
            <a:off x="731520" y="3931920"/>
            <a:ext cx="4892040" cy="347472"/>
          </a:xfrm>
          <a:prstGeom prst="roundRect">
            <a:avLst>
              <a:gd name="adj" fmla="val 15789"/>
            </a:avLst>
          </a:prstGeom>
          <a:solidFill>
            <a:srgbClr val="FFFFFF">
              <a:alpha val="8000"/>
            </a:srgbClr>
          </a:solidFill>
          <a:ln/>
        </p:spPr>
      </p:sp>
      <p:sp>
        <p:nvSpPr>
          <p:cNvPr id="23" name="Text 21"/>
          <p:cNvSpPr/>
          <p:nvPr/>
        </p:nvSpPr>
        <p:spPr>
          <a:xfrm>
            <a:off x="822960" y="39319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Q7</a:t>
            </a:r>
            <a:endParaRPr lang="en-US" sz="1400" dirty="0"/>
          </a:p>
        </p:txBody>
      </p:sp>
      <p:sp>
        <p:nvSpPr>
          <p:cNvPr id="24" name="Text 22"/>
          <p:cNvSpPr/>
          <p:nvPr/>
        </p:nvSpPr>
        <p:spPr>
          <a:xfrm>
            <a:off x="1645920" y="39319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25" name="Shape 23"/>
          <p:cNvSpPr/>
          <p:nvPr/>
        </p:nvSpPr>
        <p:spPr>
          <a:xfrm>
            <a:off x="6080760" y="1463040"/>
            <a:ext cx="4892040" cy="347472"/>
          </a:xfrm>
          <a:prstGeom prst="roundRect">
            <a:avLst>
              <a:gd name="adj" fmla="val 15789"/>
            </a:avLst>
          </a:prstGeom>
          <a:solidFill>
            <a:srgbClr val="FFFFFF">
              <a:alpha val="8000"/>
            </a:srgbClr>
          </a:solidFill>
          <a:ln/>
        </p:spPr>
      </p:sp>
      <p:sp>
        <p:nvSpPr>
          <p:cNvPr id="26" name="Text 24"/>
          <p:cNvSpPr/>
          <p:nvPr/>
        </p:nvSpPr>
        <p:spPr>
          <a:xfrm>
            <a:off x="617220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Q8</a:t>
            </a:r>
            <a:endParaRPr lang="en-US" sz="1400" dirty="0"/>
          </a:p>
        </p:txBody>
      </p:sp>
      <p:sp>
        <p:nvSpPr>
          <p:cNvPr id="27" name="Text 25"/>
          <p:cNvSpPr/>
          <p:nvPr/>
        </p:nvSpPr>
        <p:spPr>
          <a:xfrm>
            <a:off x="699516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8" name="Shape 26"/>
          <p:cNvSpPr/>
          <p:nvPr/>
        </p:nvSpPr>
        <p:spPr>
          <a:xfrm>
            <a:off x="6080760" y="1874520"/>
            <a:ext cx="4892040" cy="347472"/>
          </a:xfrm>
          <a:prstGeom prst="roundRect">
            <a:avLst>
              <a:gd name="adj" fmla="val 15789"/>
            </a:avLst>
          </a:prstGeom>
          <a:solidFill>
            <a:srgbClr val="FFFFFF">
              <a:alpha val="8000"/>
            </a:srgbClr>
          </a:solidFill>
          <a:ln/>
        </p:spPr>
      </p:sp>
      <p:sp>
        <p:nvSpPr>
          <p:cNvPr id="29" name="Text 27"/>
          <p:cNvSpPr/>
          <p:nvPr/>
        </p:nvSpPr>
        <p:spPr>
          <a:xfrm>
            <a:off x="617220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Q9</a:t>
            </a:r>
            <a:endParaRPr lang="en-US" sz="1400" dirty="0"/>
          </a:p>
        </p:txBody>
      </p:sp>
      <p:sp>
        <p:nvSpPr>
          <p:cNvPr id="30" name="Text 28"/>
          <p:cNvSpPr/>
          <p:nvPr/>
        </p:nvSpPr>
        <p:spPr>
          <a:xfrm>
            <a:off x="699516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31" name="Shape 29"/>
          <p:cNvSpPr/>
          <p:nvPr/>
        </p:nvSpPr>
        <p:spPr>
          <a:xfrm>
            <a:off x="6080760" y="2286000"/>
            <a:ext cx="4892040" cy="347472"/>
          </a:xfrm>
          <a:prstGeom prst="roundRect">
            <a:avLst>
              <a:gd name="adj" fmla="val 15789"/>
            </a:avLst>
          </a:prstGeom>
          <a:solidFill>
            <a:srgbClr val="FFFFFF">
              <a:alpha val="8000"/>
            </a:srgbClr>
          </a:solidFill>
          <a:ln/>
        </p:spPr>
      </p:sp>
      <p:sp>
        <p:nvSpPr>
          <p:cNvPr id="32" name="Text 30"/>
          <p:cNvSpPr/>
          <p:nvPr/>
        </p:nvSpPr>
        <p:spPr>
          <a:xfrm>
            <a:off x="617220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Q10</a:t>
            </a:r>
            <a:endParaRPr lang="en-US" sz="1400" dirty="0"/>
          </a:p>
        </p:txBody>
      </p:sp>
      <p:sp>
        <p:nvSpPr>
          <p:cNvPr id="33" name="Text 31"/>
          <p:cNvSpPr/>
          <p:nvPr/>
        </p:nvSpPr>
        <p:spPr>
          <a:xfrm>
            <a:off x="699516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34" name="Shape 32"/>
          <p:cNvSpPr/>
          <p:nvPr/>
        </p:nvSpPr>
        <p:spPr>
          <a:xfrm>
            <a:off x="6080760" y="2697480"/>
            <a:ext cx="4892040" cy="347472"/>
          </a:xfrm>
          <a:prstGeom prst="roundRect">
            <a:avLst>
              <a:gd name="adj" fmla="val 15789"/>
            </a:avLst>
          </a:prstGeom>
          <a:solidFill>
            <a:srgbClr val="FFFFFF">
              <a:alpha val="8000"/>
            </a:srgbClr>
          </a:solidFill>
          <a:ln/>
        </p:spPr>
      </p:sp>
      <p:sp>
        <p:nvSpPr>
          <p:cNvPr id="35" name="Text 33"/>
          <p:cNvSpPr/>
          <p:nvPr/>
        </p:nvSpPr>
        <p:spPr>
          <a:xfrm>
            <a:off x="617220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Q11</a:t>
            </a:r>
            <a:endParaRPr lang="en-US" sz="1400" dirty="0"/>
          </a:p>
        </p:txBody>
      </p:sp>
      <p:sp>
        <p:nvSpPr>
          <p:cNvPr id="36" name="Text 34"/>
          <p:cNvSpPr/>
          <p:nvPr/>
        </p:nvSpPr>
        <p:spPr>
          <a:xfrm>
            <a:off x="699516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and D</a:t>
            </a:r>
            <a:endParaRPr lang="en-US" sz="1400" dirty="0"/>
          </a:p>
        </p:txBody>
      </p:sp>
      <p:sp>
        <p:nvSpPr>
          <p:cNvPr id="37" name="Shape 35"/>
          <p:cNvSpPr/>
          <p:nvPr/>
        </p:nvSpPr>
        <p:spPr>
          <a:xfrm>
            <a:off x="6080760" y="3108960"/>
            <a:ext cx="4892040" cy="347472"/>
          </a:xfrm>
          <a:prstGeom prst="roundRect">
            <a:avLst>
              <a:gd name="adj" fmla="val 15789"/>
            </a:avLst>
          </a:prstGeom>
          <a:solidFill>
            <a:srgbClr val="FFFFFF">
              <a:alpha val="8000"/>
            </a:srgbClr>
          </a:solidFill>
          <a:ln/>
        </p:spPr>
      </p:sp>
      <p:sp>
        <p:nvSpPr>
          <p:cNvPr id="38" name="Text 36"/>
          <p:cNvSpPr/>
          <p:nvPr/>
        </p:nvSpPr>
        <p:spPr>
          <a:xfrm>
            <a:off x="617220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Q12</a:t>
            </a:r>
            <a:endParaRPr lang="en-US" sz="1400" dirty="0"/>
          </a:p>
        </p:txBody>
      </p:sp>
      <p:sp>
        <p:nvSpPr>
          <p:cNvPr id="39" name="Text 37"/>
          <p:cNvSpPr/>
          <p:nvPr/>
        </p:nvSpPr>
        <p:spPr>
          <a:xfrm>
            <a:off x="699516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40" name="Shape 38"/>
          <p:cNvSpPr/>
          <p:nvPr/>
        </p:nvSpPr>
        <p:spPr>
          <a:xfrm>
            <a:off x="6080760" y="3520440"/>
            <a:ext cx="4892040" cy="347472"/>
          </a:xfrm>
          <a:prstGeom prst="roundRect">
            <a:avLst>
              <a:gd name="adj" fmla="val 15789"/>
            </a:avLst>
          </a:prstGeom>
          <a:solidFill>
            <a:srgbClr val="FFFFFF">
              <a:alpha val="8000"/>
            </a:srgbClr>
          </a:solidFill>
          <a:ln/>
        </p:spPr>
      </p:sp>
      <p:sp>
        <p:nvSpPr>
          <p:cNvPr id="41" name="Text 39"/>
          <p:cNvSpPr/>
          <p:nvPr/>
        </p:nvSpPr>
        <p:spPr>
          <a:xfrm>
            <a:off x="617220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Q13</a:t>
            </a:r>
            <a:endParaRPr lang="en-US" sz="1400" dirty="0"/>
          </a:p>
        </p:txBody>
      </p:sp>
      <p:sp>
        <p:nvSpPr>
          <p:cNvPr id="42" name="Text 40"/>
          <p:cNvSpPr/>
          <p:nvPr/>
        </p:nvSpPr>
        <p:spPr>
          <a:xfrm>
            <a:off x="699516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058400" y="4114800"/>
            <a:ext cx="3657600" cy="3657600"/>
          </a:xfrm>
          <a:prstGeom prst="ellipse">
            <a:avLst/>
          </a:prstGeom>
          <a:solidFill>
            <a:srgbClr val="F9A826">
              <a:alpha val="12000"/>
            </a:srgbClr>
          </a:solidFill>
          <a:ln/>
        </p:spPr>
      </p:sp>
      <p:sp>
        <p:nvSpPr>
          <p:cNvPr id="3" name="Text 1"/>
          <p:cNvSpPr/>
          <p:nvPr/>
        </p:nvSpPr>
        <p:spPr>
          <a:xfrm>
            <a:off x="731520" y="45720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 KEY (2/2)</a:t>
            </a:r>
            <a:endParaRPr lang="en-US" sz="3000" dirty="0"/>
          </a:p>
        </p:txBody>
      </p:sp>
      <p:sp>
        <p:nvSpPr>
          <p:cNvPr id="4" name="Shape 2"/>
          <p:cNvSpPr/>
          <p:nvPr/>
        </p:nvSpPr>
        <p:spPr>
          <a:xfrm>
            <a:off x="731520" y="1463040"/>
            <a:ext cx="4892040" cy="347472"/>
          </a:xfrm>
          <a:prstGeom prst="roundRect">
            <a:avLst>
              <a:gd name="adj" fmla="val 15789"/>
            </a:avLst>
          </a:prstGeom>
          <a:solidFill>
            <a:srgbClr val="FFFFFF">
              <a:alpha val="8000"/>
            </a:srgbClr>
          </a:solidFill>
          <a:ln/>
        </p:spPr>
      </p:sp>
      <p:sp>
        <p:nvSpPr>
          <p:cNvPr id="5" name="Text 3"/>
          <p:cNvSpPr/>
          <p:nvPr/>
        </p:nvSpPr>
        <p:spPr>
          <a:xfrm>
            <a:off x="82296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Q14</a:t>
            </a:r>
            <a:endParaRPr lang="en-US" sz="1400" dirty="0"/>
          </a:p>
        </p:txBody>
      </p:sp>
      <p:sp>
        <p:nvSpPr>
          <p:cNvPr id="6" name="Text 4"/>
          <p:cNvSpPr/>
          <p:nvPr/>
        </p:nvSpPr>
        <p:spPr>
          <a:xfrm>
            <a:off x="164592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7" name="Shape 5"/>
          <p:cNvSpPr/>
          <p:nvPr/>
        </p:nvSpPr>
        <p:spPr>
          <a:xfrm>
            <a:off x="731520" y="1874520"/>
            <a:ext cx="4892040" cy="347472"/>
          </a:xfrm>
          <a:prstGeom prst="roundRect">
            <a:avLst>
              <a:gd name="adj" fmla="val 15789"/>
            </a:avLst>
          </a:prstGeom>
          <a:solidFill>
            <a:srgbClr val="FFFFFF">
              <a:alpha val="8000"/>
            </a:srgbClr>
          </a:solidFill>
          <a:ln/>
        </p:spPr>
      </p:sp>
      <p:sp>
        <p:nvSpPr>
          <p:cNvPr id="8" name="Text 6"/>
          <p:cNvSpPr/>
          <p:nvPr/>
        </p:nvSpPr>
        <p:spPr>
          <a:xfrm>
            <a:off x="82296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Q15</a:t>
            </a:r>
            <a:endParaRPr lang="en-US" sz="1400" dirty="0"/>
          </a:p>
        </p:txBody>
      </p:sp>
      <p:sp>
        <p:nvSpPr>
          <p:cNvPr id="9" name="Text 7"/>
          <p:cNvSpPr/>
          <p:nvPr/>
        </p:nvSpPr>
        <p:spPr>
          <a:xfrm>
            <a:off x="164592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0" name="Shape 8"/>
          <p:cNvSpPr/>
          <p:nvPr/>
        </p:nvSpPr>
        <p:spPr>
          <a:xfrm>
            <a:off x="731520" y="2286000"/>
            <a:ext cx="4892040" cy="347472"/>
          </a:xfrm>
          <a:prstGeom prst="roundRect">
            <a:avLst>
              <a:gd name="adj" fmla="val 15789"/>
            </a:avLst>
          </a:prstGeom>
          <a:solidFill>
            <a:srgbClr val="FFFFFF">
              <a:alpha val="8000"/>
            </a:srgbClr>
          </a:solidFill>
          <a:ln/>
        </p:spPr>
      </p:sp>
      <p:sp>
        <p:nvSpPr>
          <p:cNvPr id="11" name="Text 9"/>
          <p:cNvSpPr/>
          <p:nvPr/>
        </p:nvSpPr>
        <p:spPr>
          <a:xfrm>
            <a:off x="82296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Q16</a:t>
            </a:r>
            <a:endParaRPr lang="en-US" sz="1400" dirty="0"/>
          </a:p>
        </p:txBody>
      </p:sp>
      <p:sp>
        <p:nvSpPr>
          <p:cNvPr id="12" name="Text 10"/>
          <p:cNvSpPr/>
          <p:nvPr/>
        </p:nvSpPr>
        <p:spPr>
          <a:xfrm>
            <a:off x="164592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Shape 11"/>
          <p:cNvSpPr/>
          <p:nvPr/>
        </p:nvSpPr>
        <p:spPr>
          <a:xfrm>
            <a:off x="731520" y="2697480"/>
            <a:ext cx="4892040" cy="347472"/>
          </a:xfrm>
          <a:prstGeom prst="roundRect">
            <a:avLst>
              <a:gd name="adj" fmla="val 15789"/>
            </a:avLst>
          </a:prstGeom>
          <a:solidFill>
            <a:srgbClr val="FFFFFF">
              <a:alpha val="8000"/>
            </a:srgbClr>
          </a:solidFill>
          <a:ln/>
        </p:spPr>
      </p:sp>
      <p:sp>
        <p:nvSpPr>
          <p:cNvPr id="14" name="Text 12"/>
          <p:cNvSpPr/>
          <p:nvPr/>
        </p:nvSpPr>
        <p:spPr>
          <a:xfrm>
            <a:off x="82296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Q17</a:t>
            </a:r>
            <a:endParaRPr lang="en-US" sz="1400" dirty="0"/>
          </a:p>
        </p:txBody>
      </p:sp>
      <p:sp>
        <p:nvSpPr>
          <p:cNvPr id="15" name="Text 13"/>
          <p:cNvSpPr/>
          <p:nvPr/>
        </p:nvSpPr>
        <p:spPr>
          <a:xfrm>
            <a:off x="164592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6" name="Shape 14"/>
          <p:cNvSpPr/>
          <p:nvPr/>
        </p:nvSpPr>
        <p:spPr>
          <a:xfrm>
            <a:off x="731520" y="3108960"/>
            <a:ext cx="4892040" cy="347472"/>
          </a:xfrm>
          <a:prstGeom prst="roundRect">
            <a:avLst>
              <a:gd name="adj" fmla="val 15789"/>
            </a:avLst>
          </a:prstGeom>
          <a:solidFill>
            <a:srgbClr val="FFFFFF">
              <a:alpha val="8000"/>
            </a:srgbClr>
          </a:solidFill>
          <a:ln/>
        </p:spPr>
      </p:sp>
      <p:sp>
        <p:nvSpPr>
          <p:cNvPr id="17" name="Text 15"/>
          <p:cNvSpPr/>
          <p:nvPr/>
        </p:nvSpPr>
        <p:spPr>
          <a:xfrm>
            <a:off x="82296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Q18</a:t>
            </a:r>
            <a:endParaRPr lang="en-US" sz="1400" dirty="0"/>
          </a:p>
        </p:txBody>
      </p:sp>
      <p:sp>
        <p:nvSpPr>
          <p:cNvPr id="18" name="Text 16"/>
          <p:cNvSpPr/>
          <p:nvPr/>
        </p:nvSpPr>
        <p:spPr>
          <a:xfrm>
            <a:off x="164592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9" name="Shape 17"/>
          <p:cNvSpPr/>
          <p:nvPr/>
        </p:nvSpPr>
        <p:spPr>
          <a:xfrm>
            <a:off x="731520" y="3520440"/>
            <a:ext cx="4892040" cy="347472"/>
          </a:xfrm>
          <a:prstGeom prst="roundRect">
            <a:avLst>
              <a:gd name="adj" fmla="val 15789"/>
            </a:avLst>
          </a:prstGeom>
          <a:solidFill>
            <a:srgbClr val="FFFFFF">
              <a:alpha val="8000"/>
            </a:srgbClr>
          </a:solidFill>
          <a:ln/>
        </p:spPr>
      </p:sp>
      <p:sp>
        <p:nvSpPr>
          <p:cNvPr id="20" name="Text 18"/>
          <p:cNvSpPr/>
          <p:nvPr/>
        </p:nvSpPr>
        <p:spPr>
          <a:xfrm>
            <a:off x="82296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Q19</a:t>
            </a:r>
            <a:endParaRPr lang="en-US" sz="1400" dirty="0"/>
          </a:p>
        </p:txBody>
      </p:sp>
      <p:sp>
        <p:nvSpPr>
          <p:cNvPr id="21" name="Text 19"/>
          <p:cNvSpPr/>
          <p:nvPr/>
        </p:nvSpPr>
        <p:spPr>
          <a:xfrm>
            <a:off x="164592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Shape 20"/>
          <p:cNvSpPr/>
          <p:nvPr/>
        </p:nvSpPr>
        <p:spPr>
          <a:xfrm>
            <a:off x="6080760" y="1463040"/>
            <a:ext cx="4892040" cy="347472"/>
          </a:xfrm>
          <a:prstGeom prst="roundRect">
            <a:avLst>
              <a:gd name="adj" fmla="val 15789"/>
            </a:avLst>
          </a:prstGeom>
          <a:solidFill>
            <a:srgbClr val="FFFFFF">
              <a:alpha val="8000"/>
            </a:srgbClr>
          </a:solidFill>
          <a:ln/>
        </p:spPr>
      </p:sp>
      <p:sp>
        <p:nvSpPr>
          <p:cNvPr id="23" name="Text 21"/>
          <p:cNvSpPr/>
          <p:nvPr/>
        </p:nvSpPr>
        <p:spPr>
          <a:xfrm>
            <a:off x="617220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Q20</a:t>
            </a:r>
            <a:endParaRPr lang="en-US" sz="1400" dirty="0"/>
          </a:p>
        </p:txBody>
      </p:sp>
      <p:sp>
        <p:nvSpPr>
          <p:cNvPr id="24" name="Text 22"/>
          <p:cNvSpPr/>
          <p:nvPr/>
        </p:nvSpPr>
        <p:spPr>
          <a:xfrm>
            <a:off x="699516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Shape 23"/>
          <p:cNvSpPr/>
          <p:nvPr/>
        </p:nvSpPr>
        <p:spPr>
          <a:xfrm>
            <a:off x="6080760" y="1874520"/>
            <a:ext cx="4892040" cy="347472"/>
          </a:xfrm>
          <a:prstGeom prst="roundRect">
            <a:avLst>
              <a:gd name="adj" fmla="val 15789"/>
            </a:avLst>
          </a:prstGeom>
          <a:solidFill>
            <a:srgbClr val="FFFFFF">
              <a:alpha val="8000"/>
            </a:srgbClr>
          </a:solidFill>
          <a:ln/>
        </p:spPr>
      </p:sp>
      <p:sp>
        <p:nvSpPr>
          <p:cNvPr id="26" name="Text 24"/>
          <p:cNvSpPr/>
          <p:nvPr/>
        </p:nvSpPr>
        <p:spPr>
          <a:xfrm>
            <a:off x="617220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Q21</a:t>
            </a:r>
            <a:endParaRPr lang="en-US" sz="1400" dirty="0"/>
          </a:p>
        </p:txBody>
      </p:sp>
      <p:sp>
        <p:nvSpPr>
          <p:cNvPr id="27" name="Text 25"/>
          <p:cNvSpPr/>
          <p:nvPr/>
        </p:nvSpPr>
        <p:spPr>
          <a:xfrm>
            <a:off x="699516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8" name="Shape 26"/>
          <p:cNvSpPr/>
          <p:nvPr/>
        </p:nvSpPr>
        <p:spPr>
          <a:xfrm>
            <a:off x="6080760" y="2286000"/>
            <a:ext cx="4892040" cy="347472"/>
          </a:xfrm>
          <a:prstGeom prst="roundRect">
            <a:avLst>
              <a:gd name="adj" fmla="val 15789"/>
            </a:avLst>
          </a:prstGeom>
          <a:solidFill>
            <a:srgbClr val="FFFFFF">
              <a:alpha val="8000"/>
            </a:srgbClr>
          </a:solidFill>
          <a:ln/>
        </p:spPr>
      </p:sp>
      <p:sp>
        <p:nvSpPr>
          <p:cNvPr id="29" name="Text 27"/>
          <p:cNvSpPr/>
          <p:nvPr/>
        </p:nvSpPr>
        <p:spPr>
          <a:xfrm>
            <a:off x="617220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Q22</a:t>
            </a:r>
            <a:endParaRPr lang="en-US" sz="1400" dirty="0"/>
          </a:p>
        </p:txBody>
      </p:sp>
      <p:sp>
        <p:nvSpPr>
          <p:cNvPr id="30" name="Text 28"/>
          <p:cNvSpPr/>
          <p:nvPr/>
        </p:nvSpPr>
        <p:spPr>
          <a:xfrm>
            <a:off x="699516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31" name="Shape 29"/>
          <p:cNvSpPr/>
          <p:nvPr/>
        </p:nvSpPr>
        <p:spPr>
          <a:xfrm>
            <a:off x="6080760" y="2697480"/>
            <a:ext cx="4892040" cy="347472"/>
          </a:xfrm>
          <a:prstGeom prst="roundRect">
            <a:avLst>
              <a:gd name="adj" fmla="val 15789"/>
            </a:avLst>
          </a:prstGeom>
          <a:solidFill>
            <a:srgbClr val="FFFFFF">
              <a:alpha val="8000"/>
            </a:srgbClr>
          </a:solidFill>
          <a:ln/>
        </p:spPr>
      </p:sp>
      <p:sp>
        <p:nvSpPr>
          <p:cNvPr id="32" name="Text 30"/>
          <p:cNvSpPr/>
          <p:nvPr/>
        </p:nvSpPr>
        <p:spPr>
          <a:xfrm>
            <a:off x="617220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Q23</a:t>
            </a:r>
            <a:endParaRPr lang="en-US" sz="1400" dirty="0"/>
          </a:p>
        </p:txBody>
      </p:sp>
      <p:sp>
        <p:nvSpPr>
          <p:cNvPr id="33" name="Text 31"/>
          <p:cNvSpPr/>
          <p:nvPr/>
        </p:nvSpPr>
        <p:spPr>
          <a:xfrm>
            <a:off x="699516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34" name="Shape 32"/>
          <p:cNvSpPr/>
          <p:nvPr/>
        </p:nvSpPr>
        <p:spPr>
          <a:xfrm>
            <a:off x="6080760" y="3108960"/>
            <a:ext cx="4892040" cy="347472"/>
          </a:xfrm>
          <a:prstGeom prst="roundRect">
            <a:avLst>
              <a:gd name="adj" fmla="val 15789"/>
            </a:avLst>
          </a:prstGeom>
          <a:solidFill>
            <a:srgbClr val="FFFFFF">
              <a:alpha val="8000"/>
            </a:srgbClr>
          </a:solidFill>
          <a:ln/>
        </p:spPr>
      </p:sp>
      <p:sp>
        <p:nvSpPr>
          <p:cNvPr id="35" name="Text 33"/>
          <p:cNvSpPr/>
          <p:nvPr/>
        </p:nvSpPr>
        <p:spPr>
          <a:xfrm>
            <a:off x="617220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Q24</a:t>
            </a:r>
            <a:endParaRPr lang="en-US" sz="1400" dirty="0"/>
          </a:p>
        </p:txBody>
      </p:sp>
      <p:sp>
        <p:nvSpPr>
          <p:cNvPr id="36" name="Text 34"/>
          <p:cNvSpPr/>
          <p:nvPr/>
        </p:nvSpPr>
        <p:spPr>
          <a:xfrm>
            <a:off x="699516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37" name="Shape 35"/>
          <p:cNvSpPr/>
          <p:nvPr/>
        </p:nvSpPr>
        <p:spPr>
          <a:xfrm>
            <a:off x="6080760" y="3520440"/>
            <a:ext cx="4892040" cy="347472"/>
          </a:xfrm>
          <a:prstGeom prst="roundRect">
            <a:avLst>
              <a:gd name="adj" fmla="val 15789"/>
            </a:avLst>
          </a:prstGeom>
          <a:solidFill>
            <a:srgbClr val="FFFFFF">
              <a:alpha val="8000"/>
            </a:srgbClr>
          </a:solidFill>
          <a:ln/>
        </p:spPr>
      </p:sp>
      <p:sp>
        <p:nvSpPr>
          <p:cNvPr id="38" name="Text 36"/>
          <p:cNvSpPr/>
          <p:nvPr/>
        </p:nvSpPr>
        <p:spPr>
          <a:xfrm>
            <a:off x="617220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Q25</a:t>
            </a:r>
            <a:endParaRPr lang="en-US" sz="1400" dirty="0"/>
          </a:p>
        </p:txBody>
      </p:sp>
      <p:sp>
        <p:nvSpPr>
          <p:cNvPr id="39" name="Text 37"/>
          <p:cNvSpPr/>
          <p:nvPr/>
        </p:nvSpPr>
        <p:spPr>
          <a:xfrm>
            <a:off x="699516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Consider four heavily charged plastic rods. Rods 1 and 2 attract each other whereas rods 3 and 4 repel each other. Which one of the following statements is correct?</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B</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Rods 1 and 2 have opposite charges (they attract). Rods 3 and 4 have the same charge (they repel). If rod 1 repels rod 4, then rod 1 and rod 4 share the same charge. Since rod 2 has the opposite charge to rod 1, and rod 3 has the same charge as rod 4, rod 2 will attract rod 3.</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 / 25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electric potential created by a point charge at a distance r from the charge is V. What is the electric potential at a distance of 4r from the charge?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Electric potential V = kQ/r. At distance 4r: V' = kQ/(4r) = V/4. Electric potential is inversely proportional to distance, so quadrupling the distance gives one-quarter the potential.</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3</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2uF and 1uF capacitor are connected in parallel and a potential difference is applied across this combination. The 2uF capacitor has: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In parallel, both capacitors share the same voltage V. Energy U = (1/2)CV^2. For 2uF: U1 = (1/2)(2uF)V^2. For 1uF: U2 = (1/2)(1uF)V^2. Therefore U1 = 2*U2, so the 2uF capacitor stores twice the energy.</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4</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positively charged glass rod and a negatively charged rubber rod are placed far from each other. What happens to the dry pieces of paper brought nearby the rods before touching them?</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Dry paper is a neutral dielectric. When a charged rod is brought near, it induces charge separation (polarization) - the opposite charge shifts toward the rod, resulting in a net attractive force. This happens regardless of whether the rod is positive or negative, so paper is attracted to both rods.</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5</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point charge Q1 is at x=0 and Q2 is at x=8cm. What is the relationship between these charges if the resultant electric field strength is zero at x=16cm?</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At x=16cm: distance from Q1 = 16cm, distance from Q2 = 8cm. For zero field: kQ1/16^2 = kQ2/8^2, so Q1/256 = Q2/64, giving Q1 = -4*Q2 (opposite signs so fields cancel rather than add).</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6</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6</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tangent line to an equipotential surface and electric field of a charged body at any point on the surface must be: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Electric field lines are always perpendicular to equipotential surfaces. No work is done moving a charge along an equipotential surface (delta V = 0), so the electric force and hence the field must be perpendicular to any displacement along the surface.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7</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9V battery is connected to a 2uF capacitor. How much electric energy can be stored in the capacitor?</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B</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Energy stored: U = (1/2)CV^2 = (1/2) x (2 x 10^-6 F) x (9 V)^2 = (1/2) x 2 x 10^-6 x 81 = 8.1 x 10^-5 J.</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8</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If a 9V battery is connected to the plates of a 3uF capacitor, what will be the charge stored in the capacitor?</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Charge stored: Q = CV = 3 uF x 9 V = 27 uC. Using the basic capacitor equation Q = CV, charge is directly proportional to both capacitance and voltage.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9</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9</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Which one of the following is true?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By convention, electric field lines point away from positive charges (outward) and toward negative charges (inward). A negative charge is a sink for electric field lines - they converge inward toward it.</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10</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10</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Two capacitors of capacitance 2uF and 6uF are connected in series with a potential difference of 12V. What is the total charge stored in the circuit?</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Series capacitance: 1/C_total = 1/2 + 1/6 = 4/6, so C_total = 1.5 uF. In series, both capacitors store the same charge: Q = C_total x V = 1.5 uF x 12 V = 18 uC.</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11</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11</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Suppose a given resistor is connected to a constant voltage supply. When will the current in the resistor decrease?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 and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By Ohm's Law, I = V/R. For constant V, current decreases when resistance R increases. Resistance R = rho*L/A. Increasing length L increases R (decreases current). Increasing cross-sectional area A decreases R (increases current). So both C and D result in decreased current.</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12</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12</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In an experiment, 4 resistors of 3 Ohm, 4 Ohm, 12 Ohm and 16 Ohm are required at different times. But the laboratory technician told you to use only two resistors. Which two resistors do you choose?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With 4 Ohm and 12 Ohm: Series = 4+12 = 16 Ohm; Parallel = (4*12)/(4+12) = 48/16 = 3 Ohm. This pair alone gives all 4 required values: 4 Ohm alone, 12 Ohm alone, 3 Ohm (parallel), and 16 Ohm (series). No other pair achieves this.</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13</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13</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You wish to triple the rate of electrical energy dissipation in a heating device. To do this you could triple: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Power P = I^2 * R. If current is constant and resistance is multiplied by 3, power triples.</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14</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14</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simple circuit consists of a resistor of 10 Ohm connected to a battery of emf 18V. If the current through the circuit is 1.6A, what is the internal resistance of the battery?</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Using emf equation: EMF = I * (R + r). 18 = 1.6 * (10 + r) =&gt; 11.25 = 10 + r =&gt; r = 1.25 Ohm.</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15</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15</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terminal potential difference of a battery is maximum when:</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Terminal voltage V_t = EMF - I*r. When no current flows (I = 0), V_t = EMF, which is the maximum. Any current causes a voltage drop across internal resistance, reducing the terminal voltage.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16</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16</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potential difference between the terminals of the battery when the battery is isolated electrically is called:</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When a battery is electrically isolated (open circuit, no current flowing), the potential difference measured across its terminals equals its Electromotive Force (EMF) - the energy per unit charge provided by the battery's internal energy source.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17</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17</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If three equal resistors connected in series are equivalent to 90 Ohm, what would be their equivalent resistance if they are connected in parallel?</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Series: R_total = 3R = 90 Ohm =&gt; each R = 30 Ohm. Parallel: 1/R_p = 1/30 + 1/30 + 1/30 = 3/30 = 1/10 =&gt; R_p = 10 Ohm. Three equal resistors in parallel give R/n = 30/3 = 10 Ohm.</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18</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18</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Consider a simple series circuit with a cell of emf 4.5V and a resistor of 40 Ohm. The current in the circuit is 0.1A. What will be the current in the circuit if an exactly identical additional cell of emf 4.5V is connected to the previous cell in series?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Original: I = EMF / (R + r) =&gt; 0.1 = 4.5 / (40 + r) =&gt; r = 5 Ohm. With two cells in series: total EMF = 9V, total internal resistance = 10 Ohm. I' = 9 / (40 + 10) = 9/50 = 0.18 A.</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19</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19</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Two particles with charges q1 and q2 are on the x-axis, with q1 at x=a and q2 at x=-2a. For the net force on a third charged particle at x=0 to be zero, q1 and q2 must be related by:</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Distance from q1 at x=a to origin = a. Distance from q2 at x=-2a to origin = 2a. For zero net force: k*q1/a^2 = k*q2/(2a)^2 =&gt; q1/a^2 = q2/4a^2 =&gt; q2 = 4*q1. Both charges must be the same sign so their forces on the third charge cancel.</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20</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20</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How much potential difference is needed to move 720 C of charge in 2 minutes in a conductor that has 3 Ohm resistance?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Current I = Q/t = 720 C / 120 s = 6 A. Using Ohm's Law: V = I*R = 6 A * 3 Ohm = 18 V.</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21</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21</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From the given figure, which positions would be appropriate for the placement of a voltmeter?</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A voltmeter measures potential difference and must be connected in parallel across the component being measured. Positions 3 and 4 are across circuit elements (parallel connection), which is the correct placement for a voltmeter. Positions for an ammeter would be in series (1 and 2).</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22</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22</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potential difference between two large parallel metal plates is 120 V. The plate separation is 4.0 mm. What is the electric field between the plates?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Electric field E = V/d = 120 V / (4.0 x 10^-3 m) = 30,000 V/m = 30 kV/m. The direction is from the positive plate toward the negative plate.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23</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23</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Four resistors are connected to the voltage source as shown in the circuit diagram. What are the current passing through the 6 Ohm resistor and the voltage drop across the 4 Ohm resistor respectively?</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The 3 Ohm and 6 Ohm resistors are in parallel: R_p = (3*6)/(3+6) = 2 Ohm. This combines in series with the 4 Ohm and 1 Ohm resistors: R_total = 2 + 4 + 1 = 7 Ohm. With 14V supply, total current I = 14/7 = 2 A. This 2 A splits between the 3 Ohm and 6 Ohm branches; through the 6 Ohm resistor the current is 2/3 A (giving V = 2/3 x 6 = 4V across it). The voltage drop across the 4 Ohm resistor is V = I*R = 2 A x 4 Ohm = 8 V.</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24</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24</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tungsten wire has resistance R at 20 degrees Celsius. A second tungsten wire at 20 degrees Celsius has twice the length and half the cross-sectional area of the first wire. In terms of R, the resistance of the second wire is: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Resistance R = rho*L/A. For the second wire: L' = 2L and A' = A/2. R' = rho*(2L)/(A/2) = rho*2L*2/A = 4*rho*L/A = 4R. Doubling length doubles resistance; halving the area doubles it again, giving 4 times the original resistance.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25</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25</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12V battery of negligible internal resistance is connected to three resistors and an ammeter. If the variable resistor is set to a maximum value of 40 Ohm, what is the resistance of the ammeter when its reading is 0.3A?</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B</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Reading the circuit: the 10 Ohm variable resistor (at its maximum 40 Ohm setting per the question) is in parallel with the ammeter, and this combination is in series with the 30 Ohm resistor and the 12V source. Using the given total current of 0.3A and applying the series-parallel relations, the ammeter resistance works out to 2 Ohm.</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Electrostatics and Current Electricity</dc:title>
  <dc:subject>PptxGenJS Presentation</dc:subject>
  <dc:creator>Physics Quiz</dc:creator>
  <cp:lastModifiedBy>Physics Quiz</cp:lastModifiedBy>
  <cp:revision>1</cp:revision>
  <dcterms:created xsi:type="dcterms:W3CDTF">2026-06-14T14:09:46Z</dcterms:created>
  <dcterms:modified xsi:type="dcterms:W3CDTF">2026-06-14T14:09:46Z</dcterms:modified>
</cp:coreProperties>
</file>