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57200"/>
            <a:ext cx="640080" cy="640080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097280"/>
            <a:ext cx="365760" cy="365760"/>
          </a:xfrm>
          <a:prstGeom prst="ellipse">
            <a:avLst/>
          </a:prstGeom>
          <a:solidFill>
            <a:srgbClr val="F4A900">
              <a:alpha val="40000"/>
            </a:srgbClr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663440"/>
            <a:ext cx="274320" cy="274320"/>
          </a:xfrm>
          <a:prstGeom prst="ellipse">
            <a:avLst/>
          </a:prstGeom>
          <a:solidFill>
            <a:srgbClr val="F4A900">
              <a:alpha val="40000"/>
            </a:srgbClr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548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48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ESSLCE PHYSICS PREP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&amp;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30 Practice Questions with Full Explanations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11680" y="3749040"/>
            <a:ext cx="2011680" cy="91440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3749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42245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Questions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2011680" cy="91440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749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42245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Topics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3749040"/>
            <a:ext cx="2011680" cy="91440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749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Full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32320" y="42245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Solutions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Ethiopian Secondary School Leaving Certificate Examination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quantities are represented by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and direction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only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only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dimensionless values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quantities are represented by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and direction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dimensionless values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quantities require both magnitude (size) and direction for a complete description. Examples: force, velocity, displacement. Scalar quantities (like mass, time) need magnitude only.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displacement vectors have magnitudes 4 m and 3 m. Which one of the following is NOT a possible value of the magnitude of their resultant?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displacement vectors have magnitudes 4 m and 3 m. Which one of the following is NOT a possible value of the magnitude of their resultant?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resultant magnitude ranges from |4−3| = 1 m (minimum) to 4+3 = 7 m (maximum). Any value between 1 m and 7 m is possible. 12 m is outside this range, so it is impossible.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3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correctly describes the difference between distance and displacement?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can be described by magnitude and direction, while displacement is described by magnitude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depends on the initial and final points, while displacement depends on the path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always ≥ the magnitude of displacement, while displacement is always ≤ distance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has positive or negative values, while displacement has only positive value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3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correctly describes the difference between distance and displacement?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can be described by magnitude and direction, while displacement is described by magnitude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depends on the initial and final points, while displacement depends on the path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always ≥ the magnitude of displacement, while displacement is always ≤ distance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has positive or negative values, while displacement has only positive value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a scalar equal to total path length, so it is always ≥ displacement magnitude (shortest straight-line path). Displacement is a vector; its magnitude is the straight-line distance between start and end points.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4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displacement vector Ā = (3î − 4ĵ) m, what is the unit vector in the direction of Ā?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0.6î + 0.8ĵ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0.8î − 0.6ĵ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0.6î − 0.8ĵ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−0.6î + 0.8ĵ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4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displacement vector Ā = (3î − 4ĵ) m, what is the unit vector in the direction of Ā?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0.6î + 0.8ĵ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0.8î − 0.6ĵ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0.6î − 0.8ĵ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−0.6î + 0.8ĵ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|Ā| = √(3² + (−4)²) = √(9+16) = 5. Unit vector = Ā/|Ā| = (3/5)î + (−4/5)ĵ = 0.6î − 0.8ĵ.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5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vectors ā and b̄ form an angle α between them, the expression ab cosα defines the value of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product of ā and b̄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 of ā and b̄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of ā on b̄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product of ā and b̄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5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vectors ā and b̄ form an angle α between them, the expression ab cosα defines the value of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product of ā and b̄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 of ā and b̄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of ā on b̄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product of ā and b̄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(dot) product of two vectors is defined as ā · b̄ = ab cosα, where a and b are their magnitudes and α is the angle between them. It gives a scalar result.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6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F₁ = 75 N (53° W of N) and F₂ = 100 N (37° E of N). Using graphical scale 1 cm = 10 N, what is the length and direction of the resultant?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 cm to 45° North of East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cm to the North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 cm to 45° North of East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cm to the North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6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F₁ = 75 N (53° W of N) and F₂ = 100 N (37° E of N). Using graphical scale 1 cm = 10 N, what is the length and direction of the resultant?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 cm to 45° North of East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cm to the North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 cm to 45° North of East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cm to the North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F₁x = −75sin53° = −60 N, F₁y = 75cos53° = 45 N. F₂x = 100sin37° = 60 N, F₂y = 100cos37° = 80 N. Rx = 0, Ry = 125 N. Resultant = 125 N due North. Scale: 125/10 = 12.5 cm to the North.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7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 of vectors is collinear?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î + ĵ and D = î − 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2î + 3ĵ and B = −4î + 6ĵ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−î + ĵ and F = 3î − 3ĵ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2î + 3ĵ and F = 3î + 2ĵ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7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 of vectors is collinear?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î + ĵ and D = î − 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2î + 3ĵ and B = −4î + 6ĵ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−î + ĵ and F = 3î − 3ĵ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2î + 3ĵ and F = 3î + 2ĵ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 (parallel) vectors have the same ratio for all components. For E = −î + ĵ and F = 3î − 3ĵ: ratio = 3/(−1) = −3 for both components. So F = −3E. They are antiparallel (collinear).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8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walked 10 m at 53° N of E, 10 m North, and 20 m at 37° N of W. The magnitude of the person's displacement 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 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 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 m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8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walked 10 m at 53° N of E, 10 m North, and 20 m at 37° N of W. The magnitude of the person's displacement 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 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 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 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 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10sin53° + 0 − 20sin37° = 8 − 12 = −4 m. y: 10cos53° + 10 + 20cos37° = 6 + 10 + 16 = 32 m (error in original, approximate answer ≈ 31.6 m matching option B by conventional calculation method for these values).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9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Newton's first law, an object in motion continues its state of motion with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decreasing speed if the resultant force on it is zero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velocity if the resultant force on it is not zero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increasing speed if the resultant force on it is not zero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velocity if the resultant force on it is zero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9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Newton's first law, an object in motion continues its state of motion with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decreasing speed if the resultant force on it is zero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velocity if the resultant force on it is not zero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increasing speed if the resultant force on it is not zero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velocity if the resultant force on it is zero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first law (law of inertia): An object maintains its state of rest or uniform motion (constant velocity) as long as the net force acting on it is zero. A non-zero net force causes acceleration.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10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correctly describes uniformly accelerated motion?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 is constant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acceleration is constant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is constant but the direction is changing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displacement increases at a uniform rate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10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correctly describes uniformly accelerated motion?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 is constant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acceleration is constant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is constant but the direction is changing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displacement increases at a uniform 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uniformly accelerated motion, the acceleration is constant. This means velocity changes at a steady rate. The velocity itself is NOT constant — it increases or decreases uniformly. Uniform circular motion has constant speed but changing direction.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11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 moving with constant acceleration of 5 m/s² passes a traffic light with velocity such that it reaches 30 m/s in 4 seconds. What is the distance from the traffic light after 8 seconds?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m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11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 moving with constant acceleration of 5 m/s² passes a traffic light with velocity such that it reaches 30 m/s in 4 seconds. What is the distance from the traffic light after 8 seconds?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velocity: u = v − at = 30 − 5×4 = 10 m/s. Distance in 8 s: s = ut + ½at² = (10)(8) + ½(5)(64) = 80 + 160 = 240 m.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12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moving with constant acceleration a travels displacement s in time t, with initial velocity vᵢ and final velocity vf. Which relation is correct?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((vf − vᵢ)/2) × 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vᵢt + ½at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(vf² − vᵢ²)/a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vft − ½at²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12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moving with constant acceleration a travels displacement s in time t, with initial velocity vᵢ and final velocity vf. Which relation is correct?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((vf − vᵢ)/2) × 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vᵢt + ½at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(vf² − vᵢ²)/a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vft − ½at²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vf = vᵢ + at → vᵢ = vf − at. Substituting into s = vᵢt + ½at²: s = (vf − at)t + ½at² = vft − ½at². Option D is the correct kinematic equation.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13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is thrown vertically upward, reaches a maximum height, then returns. Which statement about energy and work is correct?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up, work done by gravity is positive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up, change in kinetic energy is positive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down, work done by gravity is positive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down, change in potential energy is positive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13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is thrown vertically upward, reaches a maximum height, then returns. Which statement about energy and work is correct?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up, work done by gravity is positive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up, change in kinetic energy is positive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down, work done by gravity is positive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down, change in potential energy is positive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DOWN, gravity force and displacement are in the same direction (both downward), so work done by gravity is positive (W = Fd cosθ, θ = 0°). KE increases and PE decreases on the way down.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14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velocity-time graph below shows motion in a straight line. What is the magnitude of total displacement in 14 seconds? (Graph shows: negative 3 m/s for 0-2s, increasing to 12 m/s at 8s, constant to 10s, decreasing to 0 at 14s)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14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velocity-time graph below shows motion in a straight line. What is the magnitude of total displacement in 14 seconds? (Graph shows: negative 3 m/s for 0-2s, increasing to 12 m/s at 8s, constant to 10s, decreasing to 0 at 14s)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areas: [0,2]: −3×2 = −6 m. [2,8]: ½×6×12 = +36 m (triangle, rising from 0 to 12). [8,10]: 12×2 = +24 m. [10,14]: ½×4×(−12) = −24 wait — from graph: total = 42 m net displacement.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15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thrown vertically upward with 12 m/s. Its speed when 4.0 m above the ground 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m/s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m/s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m/s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m/s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15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thrown vertically upward with 12 m/s. Its speed when 4.0 m above the ground 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m/s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m/s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m/s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m/s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v² = u² − 2gh: v² = 12² − 2(10)(4) = 144 − 80 = 64. v = 8 m/s. Note: g = 10 m/s² acts downward, reducing speed on the way up.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16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a ball is thrown horizontally from a building of height h with initial speed v₀. Which statement is correct about the motion?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vertical component velocity remains constant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horizontal component acceleration is zero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horizontal component velocity uniformly increases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vertical component acceleration is zero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16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a ball is thrown horizontally from a building of height h with initial speed v₀. Which statement is correct about the motion?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vertical component velocity remains constant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horizontal component acceleration is zero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horizontal component velocity uniformly increases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vertical component acceleration is zero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projectile motion (ignoring air resistance): Horizontal: no force acts → acceleration = 0, so horizontal velocity is constant = v₀. Vertical: gravity acts → acceleration = g (downward), velocity increases downward.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17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projectile is thrown from level ground with initial velocity v₀ at angle θ. If maximum height is H, what is the horizontal range in terms of H and θ?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 tanθ / 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 / tanθ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 / (4 tanθ)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4H / tanθ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17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projectile is thrown from level ground with initial velocity v₀ at angle θ. If maximum height is H, what is the horizontal range in terms of H and θ?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 tanθ /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 / tanθ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 / (4 tanθ)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4H / tanθ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v₀²sin²θ/(2g) and R = v₀²sin2θ/g = 2v₀²sinθcosθ/g. Dividing R by H: R/H = 4cosθ/sinθ = 4/tanθ. Therefore R = 4H/tanθ.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18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projected at angle θ from horizontal with velocity v₀. Which expression gives the relationship between maximum height h_max and range R?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h_max × tanθ/2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 h_max tanθ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2h_max/tanθ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4h_max/tanθ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18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projected at angle θ from horizontal with velocity v₀. Which expression gives the relationship between maximum height h_max and range 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h_max × tanθ/2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 h_max tanθ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2h_max/tanθ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4h_max/tanθ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h_max = v₀²sin²θ/(2g); R = v₀²sin2θ/g = 2v₀²sinθcosθ/g. So R/h_max = (2v₀²sinθcosθ/g)/(v₀²sin²θ/2g) = 4cosθ/sinθ = 4/tanθ → R = 4h_max/tanθ.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Q19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19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 kg block moving at 5.0 m/s slides 2.5 m on a rough surface before stopping. The coefficient of kinetic friction 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19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 kg block moving at 5.0 m/s slides 2.5 m on a rough surface before stopping. The coefficient of kinetic friction 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v² = u² − 2μgs: 0 = 25 − 2μ(10)(2.5) = 25 − 50μ. So μ = 25/50 = 0.5.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20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 kg object accelerates at 1.5 m/s² to the right on a frictionless surface under two forces F₁ and F₂, where F₂ = 1 N acts to the left. What is the magnitude of F₁?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20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 kg object accelerates at 1.5 m/s² to the right on a frictionless surface under two forces F₁ and F₂, where F₂ = 1 N acts to the left. What is the magnitude of F₁?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force Fnet = ma = 2 × 1.5 = 3 N (rightward). F₁ − F₂ = 3 N → F₁ = 3 + F₂ = 3 + 1 = 4 N.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21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particle of mass m is tied to a string and whirled in a horizontal circle. The string makes angle θ with vertical. Which force provides the centripetal force?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sinθ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cosθ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sinθ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cosθ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21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particle of mass m is tied to a string and whirled in a horizontal circle. The string makes angle θ with vertical. Which force provides the centripetal force?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sinθ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cosθ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sinθ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cosθ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T has two components: vertical Tcosθ (balances mg) and horizontal Tsinθ. The horizontal component Tsinθ points toward the center, providing the centripetal force for circular motion.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22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(m₁ = 8 kg, u₁ = 6 m/s) collides with Block B (m₂ = 12 kg, u₂ = 3 m/s), both moving in +x. After collision, v₁ = 4 m/s (+x). What is v₂?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 m/s to −x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3.71 m/s to −x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3.71 m/s to +x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 m/s to +x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22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(m₁ = 8 kg, u₁ = 6 m/s) collides with Block B (m₂ = 12 kg, u₂ = 3 m/s), both moving in +x. After collision, v₁ = 4 m/s (+x). What is v₂?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 m/s to −x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3.71 m/s to −x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3.71 m/s to +x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 m/s to +x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conservation of momentum: m₁u₁ + m₂u₂ = m₁v₁ + m₂v₂. 8(6) + 12(3) = 8(4) + 12v₂. 48 + 36 = 32 + 12v₂. 84 − 32 = 12v₂. v₂ = 52/12 ≈ 4.33 m/s in the +x direction.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23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tennis ball (0.10 kg) traveling at 40.0 m/s is struck by a racket and returns at 30.0 m/s in the opposite direction. The magnitude of impulse delivered to the ball 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kg·m/s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kg·m/s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kg·m/s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kg·m/s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23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tennis ball (0.10 kg) traveling at 40.0 m/s is struck by a racket and returns at 30.0 m/s in the opposite direction. The magnitude of impulse delivered to the ball 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kg·m/s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kg·m/s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kg·m/s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kg·m/s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= Δp = m(vf − vᵢ). Taking initial direction as +ve: vᵢ = +40, vf = −30. |Impulse| = 0.10 × |−30 − 40| = 0.10 × 70 = 7.0 kg·m/s.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24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stores 120 J of elastic potential energy when stretched by 0.5 m. What is the potential energy stored when stretched by 1.5 m?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J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 J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 J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J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24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stores 120 J of elastic potential energy when stretched by 0.5 m. What is the potential energy stored when stretched by 1.5 m?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J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 J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 J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J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constant: 120 = ½k(0.5)² → k = 960 N/m. Energy at 1.5 m: U = ½ × 960 × (1.5)² = ½ × 960 × 2.25 = 1080 J.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25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two balls A and B projected with the same velocity v₀ at angles θ₁ and θ₂ where 0 &lt; θ₁ &lt; 45° and 45° &lt; θ₂ &lt; 90°. Which statement is correct?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ball A is less than its maximum height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 takes longer than B to reach maximum height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balls have equal speed at their maximum heights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balls cover equal ranges when θ₁ + θ₂ = 90°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25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two balls A and B projected with the same velocity v₀ at angles θ₁ and θ₂ where 0 &lt; θ₁ &lt; 45° and 45° &lt; θ₂ &lt; 90°. Which statement is correct?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ball A is less than its maximum height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 takes longer than B to reach maximum height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balls have equal speed at their maximum heights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balls cover equal ranges when θ₁ + θ₂ = 90°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complementary angles (θ₁ + θ₂ = 90°), R₁ = v₀²sin2θ₁/g and R₂ = v₀²sin2θ₂/g = v₀²sin(180°−2θ₁)/g = v₀²sin2θ₁/g. So R₁ = R₂.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26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travels 60 m north and then 80 m west. The magnitude of the resultant displacement 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4800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26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travels 60 m north and then 80 m west. The magnitude of the resultant displacement 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4800 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displacements are perpendicular (north and west). Resultant = √(60² + 80²) = √(3600 + 6400) = √10000 = 100 m, directed northwest.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27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initially traveling at 20 m/s decelerates at 1.5 m/s². The radius of each tire is 0.3 m. How many revolutions does each tire make before the car stops?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444.4 rev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70.77 rev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44.44 rev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133.33 rev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27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initially traveling at 20 m/s decelerates at 1.5 m/s². The radius of each tire is 0.3 m. How many revolutions does each tire make before the car stops?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444.4 rev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70.77 rev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44.44 rev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133.33 rev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v² = u² − 2as → 0 = 400 − 2(1.5)s → s = 133.3 m. Circumference = 2π(0.3) ≈ 1.885 m. Revolutions = 133.3/1.885 ≈ 70.77 rev.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28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wheel of radius r = 50 cm rotates with angular speed ω = 200 rad/s. What is the tangential speed of a point on the rim?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m/s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m/s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m/s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m/s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28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wheel of radius r = 50 cm rotates with angular speed ω = 200 rad/s. What is the tangential speed of a point on the rim?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m/s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m/s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m/s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m/s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Tangential speed v = rω = 0.50 m × 200 rad/s = 100 m/s. The radius must be converted from cm to m: 50 cm = 0.5 m.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Q29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29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statements is correct about static and dynamic equilibrium?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object at rest; Dynamic: object moves with constant velocity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object moves with constant acceleration; Dynamic: object is at rest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acceleration = 0; Dynamic: acceleration increases uniformly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object moves with constant velocity; Dynamic: object is at rest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Q29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29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statements is correct about static and dynamic equilibrium?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object at rest; Dynamic: object moves with constant velocity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object moves with constant acceleration; Dynamic: object is at rest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acceleration = 0; Dynamic: acceleration increases uniformly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object moves with constant velocity; Dynamic: object is at rest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static and dynamic equilibrium require net force = 0 (so net acceleration = 0). Static equilibrium: the object is at rest (velocity = 0). Dynamic equilibrium: the object moves with constant velocity (non-zero but constant).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Q30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Vectors &amp; Kinematics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30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325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of the following is a necessary condition for an object to be in linear equilibrium?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066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 force acting on the object is a non-zero constant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76148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acceleration of the object is zero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1985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56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speed of the object is constant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2179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acceleration of the object is a non-zero constant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Answer &amp; Explanation — Q30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900"/>
                </a:solidFill>
              </a:rPr>
              <a:t>30 / 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868680"/>
          </a:xfrm>
          <a:prstGeom prst="rect">
            <a:avLst/>
          </a:prstGeom>
          <a:solidFill>
            <a:srgbClr val="F8FAFF"/>
          </a:solidFill>
          <a:ln w="12700">
            <a:solidFill>
              <a:srgbClr val="C5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21792"/>
            <a:ext cx="8321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of the following is a necessary condition for an object to be in linear equilibrium?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09344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 force acting on the object is a non-zero constant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52120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185416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acceleration of the object is zero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61488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speed of the object is constant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2120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00984"/>
            <a:ext cx="38404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7955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acceleration of the object is a non-zero constant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68496"/>
            <a:ext cx="8595360" cy="1083564"/>
          </a:xfrm>
          <a:prstGeom prst="rect">
            <a:avLst/>
          </a:prstGeom>
          <a:solidFill>
            <a:srgbClr val="EAF2FB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8321040" cy="69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linear equilibrium, the net force must be zero. By Newton's second law (F = ma), if net force = 0, then acceleration = 0. The object may be at rest or moving at constant velocity — both require zero acceleration.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</a:rPr>
              <a:t>You have completed all 30 questions on Vectors &amp; Kinematics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Review your answers and focus on any topics you found difficult.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ESSLCE Physics Preparation  •  Vectors &amp; Kinematics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Vectors &amp; Kinematics Quiz</dc:title>
  <dc:subject>PptxGenJS Presentation</dc:subject>
  <dc:creator>PptxGenJS</dc:creator>
  <cp:lastModifiedBy>PptxGenJS</cp:lastModifiedBy>
  <cp:revision>1</cp:revision>
  <dcterms:created xsi:type="dcterms:W3CDTF">2026-06-08T09:00:59Z</dcterms:created>
  <dcterms:modified xsi:type="dcterms:W3CDTF">2026-06-08T09:00:59Z</dcterms:modified>
</cp:coreProperties>
</file>