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0"/>
            <a:ext cx="640080" cy="64008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046720" y="3200400"/>
            <a:ext cx="640080" cy="64008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03920" y="914400"/>
            <a:ext cx="640080" cy="64008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749040"/>
            <a:ext cx="640080" cy="64008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645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Physics Entrance Examination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828800" y="2743200"/>
            <a:ext cx="5486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28 Multiple Choice Questions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6576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Instructions: Select the best answer for each question.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Do not guess — marks may be deducted for wrong answers.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1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Vectors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Vector quantities are represented by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magnitude and direction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direction only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magnitude only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dimensionless values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2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Vectors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Two displacement vectors have magnitudes 4 m and 3 m. Which one of the following is NOT a possible value of the magnitude of their resultant?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 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7 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5 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12 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3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Kinematics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Which of the following correctly describes the difference between distance and displacement?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Distance can be described by magnitude and direction, while displacement is described by magnitude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Distance depends on the initial and final points, while displacement depends on the path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Distance is always ≥ the magnitude of displacement, while displacement is always ≤ distance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Distance has positive or negative values, while displacement has only positive value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4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Vectors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Given the displacement vector Ā = (3î − 4ĵ) m, what is the unit vector in the direction of Ā?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0.6î + 0.8ĵ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0.8î − 0.6ĵ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0.6î − 0.8ĵ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−0.6î + 0.8ĵ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5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Vectors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If two vectors ā and b̄ form an angle α between them, the expression ab cosα defines the value of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scalar product of ā and b̄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resultant of ā and b̄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projection of ā on b̄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vector product of ā and b̄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6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Vectors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You are given F₁ = 75 N (53° W of N) and F₂ = 100 N (37° E of N). Using graphical scale 1 cm = 10 N, what is the length and direction of the resultant?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1.73 cm to 45° North of East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1.25 cm to the North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17.3 cm to 45° North of East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12.5 cm to the North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7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Vectors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Which pair of vectors is collinear?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 = î + ĵ and D = î − 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 = 2î + 3ĵ and B = −4î + 6ĵ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 = −î + ĵ and F = 3î − 3ĵ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 = 2î + 3ĵ and F = 3î + 2ĵ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8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Vectors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 person walked 10 m at 53° N of E, 10 m North, and 20 m at 37° N of W. The magnitude of the person's displacement 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30.0 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31.6 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40.0 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20.0 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9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Newton's Laws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According to Newton's first law, an object in motion continues its state of motion with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 decreasing speed if the resultant force on it is zero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constant velocity if the resultant force on it is not zero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an increasing speed if the resultant force on it is not zero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constant velocity if the resultant force on it is zero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10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Kinematics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Which of the following correctly describes uniformly accelerated motion?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velocity is constant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acceleration is constant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speed is constant but the direction is changing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displacement increases at a uniform rate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11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Kinematics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 train moving with constant acceleration of 5 m/s² passes a traffic light with velocity such that it reaches 30 m/s in 4 seconds. What is the distance from the traffic light after 8 seconds?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80 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160 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240 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320 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12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Kinematics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An object moving with constant acceleration a travels displacement s in time t, with initial velocity vᵢ and final velocity vf. Which relation is correct?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 = ((vf − vᵢ)/2) × 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 = vᵢt + ½at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 = (vf² − vᵢ²)/a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 = vft − ½at²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13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Work &amp; Energy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 ball is thrown vertically upward, reaches a maximum height, then returns. Which statement about energy and work is correct?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On the way up, work done by gravity is positive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On the way up, change in kinetic energy is positive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On the way down, work done by gravity is positive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On the way down, change in potential energy is positive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14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Kinematics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 ball thrown vertically upward with 12 m/s. Its speed when 4.0 m above the ground 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8 m/s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15 m/s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10 m/s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12 m/s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15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Suppose a ball is thrown horizontally from a building of height h with initial speed v₀. Which statement is correct about the motion?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Its vertical component velocity remains constant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Its horizontal component acceleration is zero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Its horizontal component velocity uniformly increases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Its vertical component acceleration is zero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16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 projectile is thrown from level ground with initial velocity v₀ at angle θ. If maximum height is H, what is the horizontal range in terms of H and θ?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 = H tanθ / 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 = H / tanθ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 = H / (4 tanθ)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 = 4H / tanθ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17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17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An object is projected at angle θ from horizontal with velocity v₀. Which expression gives the relationship between maximum height h_max and range R?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 = h_max × tanθ/2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 = 4 h_max tanθ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 = 2h_max/tanθ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 = 4h_max/tanθ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18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18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Friction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 0.5 kg block moving at 5.0 m/s slides 2.5 m on a rough surface before stopping. The coefficient of kinetic friction 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0.3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0.1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0.4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19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19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Newton's Laws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 2 kg object accelerates at 1.5 m/s² to the right on a frictionless surface under two forces F₁ and F₂, where F₂ = 1 N acts to the left. What is the magnitude of F₁?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 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 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3 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 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20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Momentum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Block A (m₁ = 8 kg, u₁ = 6 m/s) collides with Block B (m₂ = 12 kg, u₂ = 3 m/s), both moving in +x. After collision, v₁ = 4 m/s (+x). What is v₂?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4.33 m/s to −x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3.71 m/s to −x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3.71 m/s to +x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4.33 m/s to +x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21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21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Impulse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 tennis ball (0.10 kg) traveling at 40.0 m/s is struck by a racket and returns at 30.0 m/s in the opposite direction. The magnitude of impulse delivered to the ball 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3.0 kg·m/s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4.0 kg·m/s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7.0 kg·m/s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1.0 kg·m/s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22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22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Energy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 spring stores 120 J of elastic potential energy when stretched by 0.5 m. What is the potential energy stored when stretched by 1.5 m?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480 J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960 J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1080 J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540 J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23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23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Two balls A and B projected with the same velocity v₀ at angles θ₁ and θ₂ where 0 &lt; θ₁ &lt; 45° and 45° &lt; θ₂ &lt; 90°. Which statement is correct?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Range of ball A is less than its maximum height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Ball A takes longer than B to reach maximum height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Both balls have equal speed at their maximum heights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two balls cover equal ranges when θ₁ + θ₂ = 90°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24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24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Vectors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 car travels 60 m north and then 80 m west. The magnitude of the resultant displacement 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4800 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20 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140 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100 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25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25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Circular Motion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 car initially traveling at 20 m/s decelerates at 1.5 m/s². The radius of each tire is 0.3 m. How many revolutions does each tire make before the car stops?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444.4 rev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70.77 rev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44.44 rev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133.33 rev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26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Circular Motion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A wheel of radius r = 50 cm rotates with angular speed ω = 200 rad/s. What is the tangential speed of a point on the rim?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800 m/s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10,000 m/s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100 m/s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80,000 m/s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27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27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Equilibrium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Which of the following statements is correct about static and dynamic equilibrium?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Static: object at rest; Dynamic: object moves with constant velocity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Static: object moves with constant acceleration; Dynamic: object is at rest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Static: acceleration = 0; Dynamic: acceleration increases uniformly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Static: object moves with constant velocity; Dynamic: object is at rest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Vectors &amp; Kinematics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Question 28 of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Equilibrium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144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</a:rPr>
              <a:t>Which one of the following is a necessary condition for an object to be in linear equilibrium?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240">
            <a:solidFill>
              <a:srgbClr val="C7D7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net force acting on the object is a non-zero constant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linear acceleration of the object is zero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linear speed of the object is constant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DF4FF"/>
          </a:solidFill>
          <a:ln w="15240">
            <a:solidFill>
              <a:srgbClr val="E9D5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520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linear acceleration of the object is a non-zero constant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Physics Entrance Examination  •  Vectors &amp; Kinematics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</a:rPr>
              <a:t>ANSWER KEY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046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Vectors &amp; Kinematics  |  28 Questions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Q#     Answer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618488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61848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78408" y="1700784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700784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35608" y="1618488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magnitude and direction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28600" y="2130552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213055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78408" y="2212848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212848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35608" y="213055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12 m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" y="2642616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2642616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78408" y="2724912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2724912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35608" y="2642616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Distance is always ≥ the mag…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" y="3154680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3154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8408" y="3236976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3236976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35608" y="3154680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0.6î − 0.8ĵ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28600" y="3666744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3666744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8408" y="3749040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374904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35608" y="3666744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scalar product of ā and b̄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28600" y="4178808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417880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78408" y="4261104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8408" y="4261104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35608" y="4178808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12.5 cm to the North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28600" y="4690872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469087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78408" y="4773168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4773168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435608" y="469087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 = −î + ĵ and F = 3î − 3ĵ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350008" y="123444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41448" y="1234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Q#     Answer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50008" y="1618488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23160" y="161848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Q8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099816" y="1700784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99816" y="1700784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557016" y="1618488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31.6 m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350008" y="2130552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23160" y="213055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Q9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099816" y="2212848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99816" y="2212848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557016" y="213055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constant velocity if the res…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350008" y="2642616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23160" y="2642616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Q10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099816" y="2724912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99816" y="2724912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557016" y="2642616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The acceleration is constant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350008" y="3154680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23160" y="3154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Q11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099816" y="3236976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99816" y="3236976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557016" y="3154680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240 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350008" y="3666744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23160" y="3666744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Q12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099816" y="3749040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99816" y="374904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3557016" y="3666744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 = vft − ½at²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350008" y="4178808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423160" y="417880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Q13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099816" y="4261104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99816" y="4261104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557016" y="4178808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On the way down, work done b…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350008" y="4690872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423160" y="469087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Q14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099816" y="4773168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99816" y="4773168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3557016" y="469087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8 m/s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471416" y="123444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62856" y="1234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Q#     Answer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471416" y="1618488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44568" y="161848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Q15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221224" y="1700784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221224" y="1700784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5678424" y="1618488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Its horizontal component acc…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471416" y="2130552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44568" y="213055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Q16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5221224" y="2212848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221224" y="2212848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5678424" y="213055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 = 4H / tanθ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471416" y="2642616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44568" y="2642616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Q17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5221224" y="2724912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221224" y="2724912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5678424" y="2642616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 = 4h_max/tanθ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471416" y="3154680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44568" y="3154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Q18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5221224" y="3236976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221224" y="3236976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5678424" y="3154680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0.5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471416" y="3666744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544568" y="3666744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Q19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5221224" y="3749040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221224" y="374904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5678424" y="3666744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 N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471416" y="4178808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544568" y="417880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Q20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5221224" y="4261104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221224" y="4261104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5678424" y="4178808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4.33 m/s to +x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4471416" y="4690872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544568" y="469087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Q21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5221224" y="4773168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21224" y="4773168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5678424" y="469087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7.0 kg·m/s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6592824" y="123444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684264" y="1234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Q#     Answer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6592824" y="1618488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665976" y="161848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Q22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7342632" y="1700784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342632" y="1700784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22" name="Text 120"/>
          <p:cNvSpPr/>
          <p:nvPr/>
        </p:nvSpPr>
        <p:spPr>
          <a:xfrm>
            <a:off x="7799832" y="1618488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1080 J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6592824" y="2130552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665976" y="213055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Q23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7342632" y="2212848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342632" y="2212848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127" name="Text 125"/>
          <p:cNvSpPr/>
          <p:nvPr/>
        </p:nvSpPr>
        <p:spPr>
          <a:xfrm>
            <a:off x="7799832" y="213055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The two balls cover equal ra…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6592824" y="2642616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665976" y="2642616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Q24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7342632" y="2724912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342632" y="2724912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132" name="Text 130"/>
          <p:cNvSpPr/>
          <p:nvPr/>
        </p:nvSpPr>
        <p:spPr>
          <a:xfrm>
            <a:off x="7799832" y="2642616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100 m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6592824" y="3154680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665976" y="3154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Q25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7342632" y="3236976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342632" y="3236976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37" name="Text 135"/>
          <p:cNvSpPr/>
          <p:nvPr/>
        </p:nvSpPr>
        <p:spPr>
          <a:xfrm>
            <a:off x="7799832" y="3154680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70.77 rev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6592824" y="3666744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665976" y="3666744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Q26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7342632" y="3749040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342632" y="374904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42" name="Text 140"/>
          <p:cNvSpPr/>
          <p:nvPr/>
        </p:nvSpPr>
        <p:spPr>
          <a:xfrm>
            <a:off x="7799832" y="3666744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100 m/s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6592824" y="4178808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665976" y="417880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Q27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7342632" y="4261104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342632" y="4261104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47" name="Text 145"/>
          <p:cNvSpPr/>
          <p:nvPr/>
        </p:nvSpPr>
        <p:spPr>
          <a:xfrm>
            <a:off x="7799832" y="4178808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Static: object at rest; Dyna…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6592824" y="4690872"/>
            <a:ext cx="2011680" cy="475488"/>
          </a:xfrm>
          <a:prstGeom prst="roundRect">
            <a:avLst>
              <a:gd name="adj" fmla="val 7692"/>
            </a:avLst>
          </a:prstGeom>
          <a:solidFill>
            <a:srgbClr val="24355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665976" y="469087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Q28</a:t>
            </a:r>
            <a:endParaRPr lang="en-US" sz="1100" dirty="0"/>
          </a:p>
        </p:txBody>
      </p:sp>
      <p:sp>
        <p:nvSpPr>
          <p:cNvPr id="150" name="Shape 148"/>
          <p:cNvSpPr/>
          <p:nvPr/>
        </p:nvSpPr>
        <p:spPr>
          <a:xfrm>
            <a:off x="7342632" y="4773168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342632" y="4773168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52" name="Text 150"/>
          <p:cNvSpPr/>
          <p:nvPr/>
        </p:nvSpPr>
        <p:spPr>
          <a:xfrm>
            <a:off x="7799832" y="469087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The linear acceleration of t…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2700">
            <a:solidFill>
              <a:srgbClr val="2D4A6E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End of Answer Key  •  Physics Entrance Examination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Vectors &amp; Kinematics – Physics Entrance Quiz</dc:title>
  <dc:subject>PptxGenJS Presentation</dc:subject>
  <dc:creator>PptxGenJS</dc:creator>
  <cp:lastModifiedBy>PptxGenJS</cp:lastModifiedBy>
  <cp:revision>1</cp:revision>
  <dcterms:created xsi:type="dcterms:W3CDTF">2026-06-08T20:20:12Z</dcterms:created>
  <dcterms:modified xsi:type="dcterms:W3CDTF">2026-06-08T20:20:12Z</dcterms:modified>
</cp:coreProperties>
</file>